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RRQ/vOH3oj2Q9nh4yAATCPlOv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64EBFD-E26B-4E09-A7FD-8D1285A47B80}">
  <a:tblStyle styleId="{C764EBFD-E26B-4E09-A7FD-8D1285A47B80}" styleName="Table_0">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B8C4F8D-2DE2-4694-8329-63C6E5243738}" styleName="Table_1">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7" name="Shape 17"/>
        <p:cNvGrpSpPr/>
        <p:nvPr/>
      </p:nvGrpSpPr>
      <p:grpSpPr>
        <a:xfrm>
          <a:off x="0" y="0"/>
          <a:ext cx="0" cy="0"/>
          <a:chOff x="0" y="0"/>
          <a:chExt cx="0" cy="0"/>
        </a:xfrm>
      </p:grpSpPr>
      <p:sp>
        <p:nvSpPr>
          <p:cNvPr id="18" name="Google Shape;1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2" name="Shape 22"/>
        <p:cNvGrpSpPr/>
        <p:nvPr/>
      </p:nvGrpSpPr>
      <p:grpSpPr>
        <a:xfrm>
          <a:off x="0" y="0"/>
          <a:ext cx="0" cy="0"/>
          <a:chOff x="0" y="0"/>
          <a:chExt cx="0" cy="0"/>
        </a:xfrm>
      </p:grpSpPr>
      <p:sp>
        <p:nvSpPr>
          <p:cNvPr id="23" name="Google Shape;2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4" name="Shape 34"/>
        <p:cNvGrpSpPr/>
        <p:nvPr/>
      </p:nvGrpSpPr>
      <p:grpSpPr>
        <a:xfrm>
          <a:off x="0" y="0"/>
          <a:ext cx="0" cy="0"/>
          <a:chOff x="0" y="0"/>
          <a:chExt cx="0" cy="0"/>
        </a:xfrm>
      </p:grpSpPr>
      <p:sp>
        <p:nvSpPr>
          <p:cNvPr id="35" name="Google Shape;3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1" name="Shape 41"/>
        <p:cNvGrpSpPr/>
        <p:nvPr/>
      </p:nvGrpSpPr>
      <p:grpSpPr>
        <a:xfrm>
          <a:off x="0" y="0"/>
          <a:ext cx="0" cy="0"/>
          <a:chOff x="0" y="0"/>
          <a:chExt cx="0" cy="0"/>
        </a:xfrm>
      </p:grpSpPr>
      <p:sp>
        <p:nvSpPr>
          <p:cNvPr id="42" name="Google Shape;42;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5183188" y="987425"/>
            <a:ext cx="6172200" cy="4873625"/>
          </a:xfrm>
          <a:prstGeom prst="rect">
            <a:avLst/>
          </a:prstGeom>
          <a:noFill/>
          <a:ln>
            <a:noFill/>
          </a:ln>
        </p:spPr>
      </p:sp>
      <p:sp>
        <p:nvSpPr>
          <p:cNvPr id="64" name="Google Shape;64;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jpg"/><Relationship Id="rId5" Type="http://schemas.openxmlformats.org/officeDocument/2006/relationships/image" Target="../media/image2.jpg"/><Relationship Id="rId6"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407886" y="1398133"/>
            <a:ext cx="9144000" cy="1620837"/>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s-CL"/>
              <a:t>Presentación Capstone</a:t>
            </a:r>
            <a:br>
              <a:rPr lang="es-CL"/>
            </a:br>
            <a:r>
              <a:rPr lang="es-CL" sz="3200"/>
              <a:t>“SICAF-Sistema Integral de Control de Asistencia mediante Reconocimiento Facial”</a:t>
            </a:r>
            <a:endParaRPr/>
          </a:p>
        </p:txBody>
      </p:sp>
      <p:sp>
        <p:nvSpPr>
          <p:cNvPr id="85" name="Google Shape;85;p1"/>
          <p:cNvSpPr txBox="1"/>
          <p:nvPr>
            <p:ph idx="1" type="subTitle"/>
          </p:nvPr>
        </p:nvSpPr>
        <p:spPr>
          <a:xfrm>
            <a:off x="1524000" y="3562999"/>
            <a:ext cx="9144000" cy="1620837"/>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None/>
            </a:pPr>
            <a:r>
              <a:rPr lang="es-CL" sz="3200"/>
              <a:t>Ingeniería Informática</a:t>
            </a:r>
            <a:endParaRPr/>
          </a:p>
          <a:p>
            <a:pPr indent="0" lvl="0" marL="0" rtl="0" algn="ctr">
              <a:lnSpc>
                <a:spcPct val="90000"/>
              </a:lnSpc>
              <a:spcBef>
                <a:spcPts val="1000"/>
              </a:spcBef>
              <a:spcAft>
                <a:spcPts val="0"/>
              </a:spcAft>
              <a:buClr>
                <a:schemeClr val="dk1"/>
              </a:buClr>
              <a:buSzPts val="1400"/>
              <a:buNone/>
            </a:pPr>
            <a:r>
              <a:rPr lang="es-CL" sz="1400"/>
              <a:t>Escuela de Informática y Telecomunicaciones</a:t>
            </a:r>
            <a:endParaRPr/>
          </a:p>
          <a:p>
            <a:pPr indent="0" lvl="0" marL="0" rtl="0" algn="ctr">
              <a:lnSpc>
                <a:spcPct val="90000"/>
              </a:lnSpc>
              <a:spcBef>
                <a:spcPts val="1000"/>
              </a:spcBef>
              <a:spcAft>
                <a:spcPts val="0"/>
              </a:spcAft>
              <a:buClr>
                <a:schemeClr val="dk1"/>
              </a:buClr>
              <a:buSzPts val="1400"/>
              <a:buNone/>
            </a:pPr>
            <a:r>
              <a:rPr lang="es-CL" sz="1400"/>
              <a:t>Sede Puente Alto</a:t>
            </a:r>
            <a:endParaRPr/>
          </a:p>
          <a:p>
            <a:pPr indent="0" lvl="0" marL="0" rtl="0" algn="ctr">
              <a:lnSpc>
                <a:spcPct val="90000"/>
              </a:lnSpc>
              <a:spcBef>
                <a:spcPts val="1000"/>
              </a:spcBef>
              <a:spcAft>
                <a:spcPts val="0"/>
              </a:spcAft>
              <a:buClr>
                <a:schemeClr val="dk1"/>
              </a:buClr>
              <a:buSzPts val="1400"/>
              <a:buNone/>
            </a:pPr>
            <a:r>
              <a:rPr lang="es-CL" sz="1400"/>
              <a:t>2026</a:t>
            </a:r>
            <a:endParaRPr/>
          </a:p>
          <a:p>
            <a:pPr indent="0" lvl="0" marL="0" rtl="0" algn="ctr">
              <a:lnSpc>
                <a:spcPct val="90000"/>
              </a:lnSpc>
              <a:spcBef>
                <a:spcPts val="1000"/>
              </a:spcBef>
              <a:spcAft>
                <a:spcPts val="0"/>
              </a:spcAft>
              <a:buClr>
                <a:schemeClr val="dk1"/>
              </a:buClr>
              <a:buSzPts val="1400"/>
              <a:buNone/>
            </a:pPr>
            <a:r>
              <a:t/>
            </a:r>
            <a:endParaRPr sz="1400"/>
          </a:p>
          <a:p>
            <a:pPr indent="0" lvl="0" marL="0" rtl="0" algn="ctr">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nvSpPr>
        <p:spPr>
          <a:xfrm>
            <a:off x="555827" y="2315666"/>
            <a:ext cx="2993823"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INTEGRANTES DEL PROYECTO</a:t>
            </a:r>
            <a:endParaRPr b="0" i="0" sz="1800" u="none" cap="none" strike="noStrike">
              <a:solidFill>
                <a:schemeClr val="dk1"/>
              </a:solidFill>
              <a:latin typeface="Calibri"/>
              <a:ea typeface="Calibri"/>
              <a:cs typeface="Calibri"/>
              <a:sym typeface="Calibri"/>
            </a:endParaRPr>
          </a:p>
        </p:txBody>
      </p:sp>
      <p:grpSp>
        <p:nvGrpSpPr>
          <p:cNvPr id="91" name="Google Shape;91;p2"/>
          <p:cNvGrpSpPr/>
          <p:nvPr/>
        </p:nvGrpSpPr>
        <p:grpSpPr>
          <a:xfrm>
            <a:off x="4082926" y="1382434"/>
            <a:ext cx="6781052" cy="4590130"/>
            <a:chOff x="0" y="0"/>
            <a:chExt cx="6781052" cy="4590130"/>
          </a:xfrm>
        </p:grpSpPr>
        <p:sp>
          <p:nvSpPr>
            <p:cNvPr id="92" name="Google Shape;92;p2"/>
            <p:cNvSpPr/>
            <p:nvPr/>
          </p:nvSpPr>
          <p:spPr>
            <a:xfrm>
              <a:off x="0" y="0"/>
              <a:ext cx="6780900" cy="1067400"/>
            </a:xfrm>
            <a:prstGeom prst="roundRect">
              <a:avLst>
                <a:gd fmla="val 10000" name="adj"/>
              </a:avLst>
            </a:prstGeom>
            <a:gradFill>
              <a:gsLst>
                <a:gs pos="0">
                  <a:srgbClr val="5D7FC9"/>
                </a:gs>
                <a:gs pos="50000">
                  <a:srgbClr val="3A6EC9"/>
                </a:gs>
                <a:gs pos="100000">
                  <a:srgbClr val="2C5EB8"/>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txBox="1"/>
            <p:nvPr/>
          </p:nvSpPr>
          <p:spPr>
            <a:xfrm>
              <a:off x="1462952" y="0"/>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Maximiliano Castillo</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Project Manager</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Funciones desempeñadas</a:t>
              </a:r>
              <a:endParaRPr b="0" i="0" sz="1600" u="none" cap="none" strike="noStrike">
                <a:solidFill>
                  <a:schemeClr val="lt1"/>
                </a:solidFill>
                <a:latin typeface="Calibri"/>
                <a:ea typeface="Calibri"/>
                <a:cs typeface="Calibri"/>
                <a:sym typeface="Calibri"/>
              </a:endParaRPr>
            </a:p>
          </p:txBody>
        </p:sp>
        <p:sp>
          <p:nvSpPr>
            <p:cNvPr id="94" name="Google Shape;94;p2"/>
            <p:cNvSpPr/>
            <p:nvPr/>
          </p:nvSpPr>
          <p:spPr>
            <a:xfrm>
              <a:off x="106749" y="106749"/>
              <a:ext cx="1356300" cy="854100"/>
            </a:xfrm>
            <a:prstGeom prst="roundRect">
              <a:avLst>
                <a:gd fmla="val 10000" name="adj"/>
              </a:avLst>
            </a:prstGeom>
            <a:solidFill>
              <a:srgbClr val="BCC5E4"/>
            </a:soli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0" y="1174243"/>
              <a:ext cx="6780900" cy="1067400"/>
            </a:xfrm>
            <a:prstGeom prst="roundRect">
              <a:avLst>
                <a:gd fmla="val 10000" name="adj"/>
              </a:avLst>
            </a:prstGeom>
            <a:gradFill>
              <a:gsLst>
                <a:gs pos="0">
                  <a:srgbClr val="5D7FC9"/>
                </a:gs>
                <a:gs pos="50000">
                  <a:srgbClr val="3A6EC9"/>
                </a:gs>
                <a:gs pos="100000">
                  <a:srgbClr val="2C5EB8"/>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txBox="1"/>
            <p:nvPr/>
          </p:nvSpPr>
          <p:spPr>
            <a:xfrm>
              <a:off x="1462952" y="1174243"/>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Francisco Jara</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Analista Programador</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Funciones desempeñadas</a:t>
              </a:r>
              <a:endParaRPr b="0" i="0" sz="1600" u="none" cap="none" strike="noStrike">
                <a:solidFill>
                  <a:schemeClr val="lt1"/>
                </a:solidFill>
                <a:latin typeface="Calibri"/>
                <a:ea typeface="Calibri"/>
                <a:cs typeface="Calibri"/>
                <a:sym typeface="Calibri"/>
              </a:endParaRPr>
            </a:p>
          </p:txBody>
        </p:sp>
        <p:sp>
          <p:nvSpPr>
            <p:cNvPr id="97" name="Google Shape;97;p2"/>
            <p:cNvSpPr/>
            <p:nvPr/>
          </p:nvSpPr>
          <p:spPr>
            <a:xfrm>
              <a:off x="0" y="2348487"/>
              <a:ext cx="6780900" cy="1067400"/>
            </a:xfrm>
            <a:prstGeom prst="roundRect">
              <a:avLst>
                <a:gd fmla="val 10000" name="adj"/>
              </a:avLst>
            </a:prstGeom>
            <a:gradFill>
              <a:gsLst>
                <a:gs pos="0">
                  <a:srgbClr val="5D7FC9"/>
                </a:gs>
                <a:gs pos="50000">
                  <a:srgbClr val="3A6EC9"/>
                </a:gs>
                <a:gs pos="100000">
                  <a:srgbClr val="2C5EB8"/>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txBox="1"/>
            <p:nvPr/>
          </p:nvSpPr>
          <p:spPr>
            <a:xfrm>
              <a:off x="1462952" y="2348487"/>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Dilan Nuñez</a:t>
              </a:r>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QA</a:t>
              </a:r>
              <a:endParaRPr/>
            </a:p>
            <a:p>
              <a:pPr indent="-171450" lvl="1" marL="171450" marR="0" rtl="0" algn="l">
                <a:lnSpc>
                  <a:spcPct val="90000"/>
                </a:lnSpc>
                <a:spcBef>
                  <a:spcPts val="240"/>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Funciones desempeñadas</a:t>
              </a:r>
              <a:endParaRPr/>
            </a:p>
          </p:txBody>
        </p:sp>
        <p:sp>
          <p:nvSpPr>
            <p:cNvPr id="99" name="Google Shape;99;p2"/>
            <p:cNvSpPr/>
            <p:nvPr/>
          </p:nvSpPr>
          <p:spPr>
            <a:xfrm>
              <a:off x="0" y="3522730"/>
              <a:ext cx="6780900" cy="1067400"/>
            </a:xfrm>
            <a:prstGeom prst="roundRect">
              <a:avLst>
                <a:gd fmla="val 10000" name="adj"/>
              </a:avLst>
            </a:prstGeom>
            <a:gradFill>
              <a:gsLst>
                <a:gs pos="0">
                  <a:srgbClr val="5D7FC9"/>
                </a:gs>
                <a:gs pos="50000">
                  <a:srgbClr val="3A6EC9"/>
                </a:gs>
                <a:gs pos="100000">
                  <a:srgbClr val="2C5EB8"/>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txBox="1"/>
            <p:nvPr/>
          </p:nvSpPr>
          <p:spPr>
            <a:xfrm>
              <a:off x="1462952" y="3522730"/>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Sebastian Hurtado</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Administrador BD</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Funciones desempeñadas</a:t>
              </a:r>
              <a:endParaRPr b="0" i="0" sz="1600" u="none" cap="none" strike="noStrike">
                <a:solidFill>
                  <a:schemeClr val="lt1"/>
                </a:solidFill>
                <a:latin typeface="Calibri"/>
                <a:ea typeface="Calibri"/>
                <a:cs typeface="Calibri"/>
                <a:sym typeface="Calibri"/>
              </a:endParaRPr>
            </a:p>
          </p:txBody>
        </p:sp>
        <p:sp>
          <p:nvSpPr>
            <p:cNvPr id="101" name="Google Shape;101;p2"/>
            <p:cNvSpPr/>
            <p:nvPr/>
          </p:nvSpPr>
          <p:spPr>
            <a:xfrm>
              <a:off x="106749" y="3629480"/>
              <a:ext cx="1356300" cy="854100"/>
            </a:xfrm>
            <a:prstGeom prst="roundRect">
              <a:avLst>
                <a:gd fmla="val 10000" name="adj"/>
              </a:avLst>
            </a:prstGeom>
            <a:solidFill>
              <a:srgbClr val="BCC5E4"/>
            </a:soli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106749" y="2455236"/>
              <a:ext cx="1356300" cy="854100"/>
            </a:xfrm>
            <a:prstGeom prst="roundRect">
              <a:avLst>
                <a:gd fmla="val 10000" name="adj"/>
              </a:avLst>
            </a:prstGeom>
            <a:solidFill>
              <a:srgbClr val="BCC5E4"/>
            </a:solidFill>
            <a:ln>
              <a:noFill/>
            </a:ln>
            <a:effectLst>
              <a:outerShdw blurRad="57150" rotWithShape="0" algn="ctr" dir="5400000" dist="19050">
                <a:srgbClr val="000000">
                  <a:alpha val="631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106749" y="1280992"/>
              <a:ext cx="1356300" cy="854100"/>
            </a:xfrm>
            <a:prstGeom prst="roundRect">
              <a:avLst>
                <a:gd fmla="val 10000" name="adj"/>
              </a:avLst>
            </a:prstGeom>
            <a:solidFill>
              <a:srgbClr val="BCC5E4"/>
            </a:solidFill>
            <a:ln>
              <a:noFill/>
            </a:ln>
            <a:effectLst>
              <a:outerShdw blurRad="57150" rotWithShape="0" algn="ctr" dir="5400000" dist="19050">
                <a:srgbClr val="000000">
                  <a:alpha val="631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4" name="Google Shape;104;p2" title="imagen_2026-06-15_194441739.png"/>
          <p:cNvPicPr preferRelativeResize="0"/>
          <p:nvPr/>
        </p:nvPicPr>
        <p:blipFill rotWithShape="1">
          <a:blip r:embed="rId3">
            <a:alphaModFix/>
          </a:blip>
          <a:srcRect b="33756" l="0" r="0" t="8610"/>
          <a:stretch/>
        </p:blipFill>
        <p:spPr>
          <a:xfrm>
            <a:off x="4167250" y="4953700"/>
            <a:ext cx="1416175" cy="1056625"/>
          </a:xfrm>
          <a:prstGeom prst="rect">
            <a:avLst/>
          </a:prstGeom>
          <a:noFill/>
          <a:ln>
            <a:noFill/>
          </a:ln>
        </p:spPr>
      </p:pic>
      <p:pic>
        <p:nvPicPr>
          <p:cNvPr id="105" name="Google Shape;105;p2" title="WhatsApp Image 2026-09-07 at 20.45.15.jpeg"/>
          <p:cNvPicPr preferRelativeResize="0"/>
          <p:nvPr/>
        </p:nvPicPr>
        <p:blipFill>
          <a:blip r:embed="rId4">
            <a:alphaModFix/>
          </a:blip>
          <a:stretch>
            <a:fillRect/>
          </a:stretch>
        </p:blipFill>
        <p:spPr>
          <a:xfrm>
            <a:off x="4167238" y="3722800"/>
            <a:ext cx="1369026" cy="1178296"/>
          </a:xfrm>
          <a:prstGeom prst="rect">
            <a:avLst/>
          </a:prstGeom>
          <a:noFill/>
          <a:ln>
            <a:noFill/>
          </a:ln>
        </p:spPr>
      </p:pic>
      <p:pic>
        <p:nvPicPr>
          <p:cNvPr id="106" name="Google Shape;106;p2" title="WhatsApp Image 2026-09-07 at 20.55.22.jpeg"/>
          <p:cNvPicPr preferRelativeResize="0"/>
          <p:nvPr/>
        </p:nvPicPr>
        <p:blipFill rotWithShape="1">
          <a:blip r:embed="rId5">
            <a:alphaModFix/>
          </a:blip>
          <a:srcRect b="52273" l="24519" r="29148" t="7036"/>
          <a:stretch/>
        </p:blipFill>
        <p:spPr>
          <a:xfrm>
            <a:off x="4167225" y="2517700"/>
            <a:ext cx="1369025" cy="1152499"/>
          </a:xfrm>
          <a:prstGeom prst="rect">
            <a:avLst/>
          </a:prstGeom>
          <a:solidFill>
            <a:srgbClr val="BCC5E4"/>
          </a:solidFill>
          <a:ln>
            <a:noFill/>
          </a:ln>
          <a:effectLst>
            <a:outerShdw blurRad="57150" rotWithShape="0" algn="ctr" dir="5400000" dist="19050">
              <a:srgbClr val="000000">
                <a:alpha val="63140"/>
              </a:srgbClr>
            </a:outerShdw>
          </a:effectLst>
        </p:spPr>
      </p:pic>
      <p:pic>
        <p:nvPicPr>
          <p:cNvPr id="107" name="Google Shape;107;p2" title="WhatsApp Image 2026-09-07 at 20.39.09.jpeg"/>
          <p:cNvPicPr preferRelativeResize="0"/>
          <p:nvPr/>
        </p:nvPicPr>
        <p:blipFill rotWithShape="1">
          <a:blip r:embed="rId6">
            <a:alphaModFix/>
          </a:blip>
          <a:srcRect b="33759" l="25495" r="0" t="28255"/>
          <a:stretch/>
        </p:blipFill>
        <p:spPr>
          <a:xfrm>
            <a:off x="4192725" y="1313325"/>
            <a:ext cx="1343526" cy="1178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682146" y="1103163"/>
            <a:ext cx="10515600" cy="718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Descripción del Proyecto</a:t>
            </a:r>
            <a:endParaRPr/>
          </a:p>
        </p:txBody>
      </p:sp>
      <p:sp>
        <p:nvSpPr>
          <p:cNvPr id="113" name="Google Shape;113;p3"/>
          <p:cNvSpPr/>
          <p:nvPr/>
        </p:nvSpPr>
        <p:spPr>
          <a:xfrm>
            <a:off x="5456903" y="3736258"/>
            <a:ext cx="1140542" cy="757084"/>
          </a:xfrm>
          <a:prstGeom prst="rightArrow">
            <a:avLst>
              <a:gd fmla="val 50000" name="adj1"/>
              <a:gd fmla="val 50000" name="adj2"/>
            </a:avLst>
          </a:prstGeom>
          <a:solidFill>
            <a:schemeClr val="accent1"/>
          </a:solidFill>
          <a:ln cap="flat" cmpd="sng" w="12700">
            <a:solidFill>
              <a:srgbClr val="26415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 name="Google Shape;114;p3"/>
          <p:cNvSpPr/>
          <p:nvPr/>
        </p:nvSpPr>
        <p:spPr>
          <a:xfrm>
            <a:off x="714909" y="2169769"/>
            <a:ext cx="4427360" cy="4092601"/>
          </a:xfrm>
          <a:prstGeom prst="roundRect">
            <a:avLst>
              <a:gd fmla="val 10901" name="adj"/>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s-CL" sz="2800" u="sng" cap="none" strike="noStrike">
                <a:solidFill>
                  <a:schemeClr val="dk1"/>
                </a:solidFill>
                <a:latin typeface="Calibri"/>
                <a:ea typeface="Calibri"/>
                <a:cs typeface="Calibri"/>
                <a:sym typeface="Calibri"/>
              </a:rPr>
              <a:t>Problemática</a:t>
            </a:r>
            <a:endParaRPr/>
          </a:p>
          <a:p>
            <a:pPr indent="0" lvl="0" marL="0" rtl="0" algn="l">
              <a:spcBef>
                <a:spcPts val="0"/>
              </a:spcBef>
              <a:spcAft>
                <a:spcPts val="0"/>
              </a:spcAft>
              <a:buClr>
                <a:schemeClr val="dk1"/>
              </a:buClr>
              <a:buSzPts val="1100"/>
              <a:buFont typeface="Arial"/>
              <a:buNone/>
            </a:pPr>
            <a:r>
              <a:rPr lang="es-CL" sz="1200">
                <a:solidFill>
                  <a:schemeClr val="dk1"/>
                </a:solidFill>
                <a:latin typeface="Calibri"/>
                <a:ea typeface="Calibri"/>
                <a:cs typeface="Calibri"/>
                <a:sym typeface="Calibri"/>
              </a:rPr>
              <a:t>El registro de asistencia escolar sigue siendo, en la mayoría de los establecimientos, un proceso manual, lento y propenso a errores. En los colegios de la Región Metropolitana, los profesores dedican entre 5 y 10 minutos diarios por curso a registrar la asistencia, tiempo que se resta directamente a la enseñanza.</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CL" sz="1200">
                <a:solidFill>
                  <a:schemeClr val="dk1"/>
                </a:solidFill>
                <a:latin typeface="Calibri"/>
                <a:ea typeface="Calibri"/>
                <a:cs typeface="Calibri"/>
                <a:sym typeface="Calibri"/>
              </a:rPr>
              <a:t>Existe la necesidad de contar con un sistema que automatice el registro de asistencia de forma confiable, sin depender de la intervención manual del docente, que garantice la identidad real del alumno mediante un mecanismo biométrico, y que centralice la información académica y de asistencia en una plataforma segura, disponible en tiempo real y capaz de generar reportes útiles para la gestión escolar.</a:t>
            </a:r>
            <a:endParaRPr sz="1800" u="sng">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1800" u="sng" cap="none" strike="noStrike">
              <a:solidFill>
                <a:schemeClr val="dk1"/>
              </a:solidFill>
              <a:latin typeface="Calibri"/>
              <a:ea typeface="Calibri"/>
              <a:cs typeface="Calibri"/>
              <a:sym typeface="Calibri"/>
            </a:endParaRPr>
          </a:p>
        </p:txBody>
      </p:sp>
      <p:sp>
        <p:nvSpPr>
          <p:cNvPr id="115" name="Google Shape;115;p3"/>
          <p:cNvSpPr/>
          <p:nvPr/>
        </p:nvSpPr>
        <p:spPr>
          <a:xfrm>
            <a:off x="6868566" y="2169775"/>
            <a:ext cx="4641300" cy="4092600"/>
          </a:xfrm>
          <a:prstGeom prst="roundRect">
            <a:avLst>
              <a:gd fmla="val 10901" name="adj"/>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s-CL" sz="2800" u="sng" cap="none" strike="noStrike">
                <a:solidFill>
                  <a:schemeClr val="dk1"/>
                </a:solidFill>
                <a:latin typeface="Calibri"/>
                <a:ea typeface="Calibri"/>
                <a:cs typeface="Calibri"/>
                <a:sym typeface="Calibri"/>
              </a:rPr>
              <a:t>Propuesta de solución</a:t>
            </a:r>
            <a:endParaRPr/>
          </a:p>
          <a:p>
            <a:pPr indent="0" lvl="0" marL="0" marR="0" rtl="0" algn="ctr">
              <a:spcBef>
                <a:spcPts val="0"/>
              </a:spcBef>
              <a:spcAft>
                <a:spcPts val="0"/>
              </a:spcAft>
              <a:buNone/>
            </a:pPr>
            <a:r>
              <a:t/>
            </a:r>
            <a:endParaRPr b="0" i="0" sz="1800" u="sng" cap="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CL" sz="1200">
                <a:solidFill>
                  <a:schemeClr val="dk1"/>
                </a:solidFill>
                <a:latin typeface="Calibri"/>
                <a:ea typeface="Calibri"/>
                <a:cs typeface="Calibri"/>
                <a:sym typeface="Calibri"/>
              </a:rPr>
              <a:t>Automatizar el proceso de pase de lista mediante reconocimiento facial biométrico, eliminando la intervención manual del docente y el riesgo de suplantación de identidad, integrando en una sola plataforma la gestión académica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par>
                                <p:cTn fill="hold" nodeType="with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nvSpPr>
        <p:spPr>
          <a:xfrm>
            <a:off x="152400" y="1197198"/>
            <a:ext cx="11938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Objetivo General</a:t>
            </a:r>
            <a:endParaRPr b="0" i="0" sz="1800" u="none" cap="none" strike="noStrike">
              <a:solidFill>
                <a:schemeClr val="dk1"/>
              </a:solidFill>
              <a:latin typeface="Calibri"/>
              <a:ea typeface="Calibri"/>
              <a:cs typeface="Calibri"/>
              <a:sym typeface="Calibri"/>
            </a:endParaRPr>
          </a:p>
        </p:txBody>
      </p:sp>
      <p:sp>
        <p:nvSpPr>
          <p:cNvPr id="121" name="Google Shape;121;p4"/>
          <p:cNvSpPr txBox="1"/>
          <p:nvPr/>
        </p:nvSpPr>
        <p:spPr>
          <a:xfrm>
            <a:off x="152400" y="4009875"/>
            <a:ext cx="11938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Objetivos Específicos</a:t>
            </a:r>
            <a:endParaRPr b="0" i="0" sz="1800" u="none" cap="none" strike="noStrike">
              <a:solidFill>
                <a:schemeClr val="dk1"/>
              </a:solidFill>
              <a:latin typeface="Calibri"/>
              <a:ea typeface="Calibri"/>
              <a:cs typeface="Calibri"/>
              <a:sym typeface="Calibri"/>
            </a:endParaRPr>
          </a:p>
        </p:txBody>
      </p:sp>
      <p:sp>
        <p:nvSpPr>
          <p:cNvPr id="122" name="Google Shape;122;p4"/>
          <p:cNvSpPr/>
          <p:nvPr/>
        </p:nvSpPr>
        <p:spPr>
          <a:xfrm>
            <a:off x="614515" y="2040571"/>
            <a:ext cx="10962967" cy="1575221"/>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lnSpc>
                <a:spcPct val="110000"/>
              </a:lnSpc>
              <a:spcBef>
                <a:spcPts val="0"/>
              </a:spcBef>
              <a:spcAft>
                <a:spcPts val="200"/>
              </a:spcAft>
              <a:buClr>
                <a:schemeClr val="dk1"/>
              </a:buClr>
              <a:buSzPts val="1100"/>
              <a:buFont typeface="Arial"/>
              <a:buNone/>
            </a:pPr>
            <a:r>
              <a:rPr b="1" lang="es-CL">
                <a:solidFill>
                  <a:srgbClr val="222222"/>
                </a:solidFill>
                <a:latin typeface="Calibri"/>
                <a:ea typeface="Calibri"/>
                <a:cs typeface="Calibri"/>
                <a:sym typeface="Calibri"/>
              </a:rPr>
              <a:t>Desarrollar e implementar un sistema web de control de asistencia escolar mediante reconocimiento facial que automatice el registro y entregue reportes en tiempo real.</a:t>
            </a:r>
            <a:endParaRPr b="0" i="0" sz="2200" u="none" cap="none" strike="noStrike">
              <a:solidFill>
                <a:schemeClr val="dk1"/>
              </a:solidFill>
              <a:latin typeface="Calibri"/>
              <a:ea typeface="Calibri"/>
              <a:cs typeface="Calibri"/>
              <a:sym typeface="Calibri"/>
            </a:endParaRPr>
          </a:p>
        </p:txBody>
      </p:sp>
      <p:sp>
        <p:nvSpPr>
          <p:cNvPr id="123" name="Google Shape;123;p4"/>
          <p:cNvSpPr/>
          <p:nvPr/>
        </p:nvSpPr>
        <p:spPr>
          <a:xfrm>
            <a:off x="614514" y="4732407"/>
            <a:ext cx="10962967" cy="1575221"/>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lnSpc>
                <a:spcPct val="110000"/>
              </a:lnSpc>
              <a:spcBef>
                <a:spcPts val="0"/>
              </a:spcBef>
              <a:spcAft>
                <a:spcPts val="0"/>
              </a:spcAft>
              <a:buNone/>
            </a:pPr>
            <a:r>
              <a:rPr b="1" lang="es-CL">
                <a:solidFill>
                  <a:srgbClr val="222222"/>
                </a:solidFill>
                <a:latin typeface="Calibri"/>
                <a:ea typeface="Calibri"/>
                <a:cs typeface="Calibri"/>
                <a:sym typeface="Calibri"/>
              </a:rPr>
              <a:t>Específico 1: Automatizar el registro de asistencia mediante reconocimiento facial.</a:t>
            </a:r>
            <a:endParaRPr b="1">
              <a:latin typeface="Calibri"/>
              <a:ea typeface="Calibri"/>
              <a:cs typeface="Calibri"/>
              <a:sym typeface="Calibri"/>
            </a:endParaRPr>
          </a:p>
          <a:p>
            <a:pPr indent="0" lvl="0" marL="0" rtl="0" algn="l">
              <a:lnSpc>
                <a:spcPct val="110000"/>
              </a:lnSpc>
              <a:spcBef>
                <a:spcPts val="200"/>
              </a:spcBef>
              <a:spcAft>
                <a:spcPts val="0"/>
              </a:spcAft>
              <a:buNone/>
            </a:pPr>
            <a:r>
              <a:rPr b="1" lang="es-CL">
                <a:solidFill>
                  <a:srgbClr val="222222"/>
                </a:solidFill>
                <a:latin typeface="Calibri"/>
                <a:ea typeface="Calibri"/>
                <a:cs typeface="Calibri"/>
                <a:sym typeface="Calibri"/>
              </a:rPr>
              <a:t>Específico 2: Centralizar la gestión académica (alumnos, cursos, horarios, notas).</a:t>
            </a:r>
            <a:endParaRPr b="1">
              <a:latin typeface="Calibri"/>
              <a:ea typeface="Calibri"/>
              <a:cs typeface="Calibri"/>
              <a:sym typeface="Calibri"/>
            </a:endParaRPr>
          </a:p>
          <a:p>
            <a:pPr indent="0" lvl="0" marL="0" rtl="0" algn="l">
              <a:lnSpc>
                <a:spcPct val="110000"/>
              </a:lnSpc>
              <a:spcBef>
                <a:spcPts val="200"/>
              </a:spcBef>
              <a:spcAft>
                <a:spcPts val="0"/>
              </a:spcAft>
              <a:buNone/>
            </a:pPr>
            <a:r>
              <a:rPr b="1" lang="es-CL">
                <a:solidFill>
                  <a:srgbClr val="222222"/>
                </a:solidFill>
                <a:latin typeface="Calibri"/>
                <a:ea typeface="Calibri"/>
                <a:cs typeface="Calibri"/>
                <a:sym typeface="Calibri"/>
              </a:rPr>
              <a:t>Específico 3: Generar reportes de asistencia y académicos.</a:t>
            </a:r>
            <a:endParaRPr b="1">
              <a:latin typeface="Calibri"/>
              <a:ea typeface="Calibri"/>
              <a:cs typeface="Calibri"/>
              <a:sym typeface="Calibri"/>
            </a:endParaRPr>
          </a:p>
          <a:p>
            <a:pPr indent="0" lvl="0" marL="0" rtl="0" algn="l">
              <a:lnSpc>
                <a:spcPct val="110000"/>
              </a:lnSpc>
              <a:spcBef>
                <a:spcPts val="200"/>
              </a:spcBef>
              <a:spcAft>
                <a:spcPts val="0"/>
              </a:spcAft>
              <a:buNone/>
            </a:pPr>
            <a:r>
              <a:rPr b="1" lang="es-CL">
                <a:solidFill>
                  <a:srgbClr val="222222"/>
                </a:solidFill>
                <a:latin typeface="Calibri"/>
                <a:ea typeface="Calibri"/>
                <a:cs typeface="Calibri"/>
                <a:sym typeface="Calibri"/>
              </a:rPr>
              <a:t>Específico 4: Garantizar la seguridad y el control de acceso por roles.</a:t>
            </a:r>
            <a:endParaRPr b="1">
              <a:latin typeface="Calibri"/>
              <a:ea typeface="Calibri"/>
              <a:cs typeface="Calibri"/>
              <a:sym typeface="Calibri"/>
            </a:endParaRPr>
          </a:p>
          <a:p>
            <a:pPr indent="0" lvl="0" marL="0" marR="0" rtl="0" algn="ctr">
              <a:spcBef>
                <a:spcPts val="20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810065" y="809447"/>
            <a:ext cx="10515600" cy="7508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Alcances</a:t>
            </a:r>
            <a:endParaRPr/>
          </a:p>
        </p:txBody>
      </p:sp>
      <p:sp>
        <p:nvSpPr>
          <p:cNvPr id="129" name="Google Shape;129;p5"/>
          <p:cNvSpPr txBox="1"/>
          <p:nvPr/>
        </p:nvSpPr>
        <p:spPr>
          <a:xfrm>
            <a:off x="914374" y="1664801"/>
            <a:ext cx="10072800" cy="445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CL" sz="1800" u="none" cap="none" strike="noStrike">
                <a:solidFill>
                  <a:schemeClr val="dk1"/>
                </a:solidFill>
                <a:latin typeface="Calibri"/>
                <a:ea typeface="Calibri"/>
                <a:cs typeface="Calibri"/>
                <a:sym typeface="Calibri"/>
              </a:rPr>
              <a:t>Que hace el Sistema:</a:t>
            </a:r>
            <a:endParaRPr>
              <a:latin typeface="Calibri"/>
              <a:ea typeface="Calibri"/>
              <a:cs typeface="Calibri"/>
              <a:sym typeface="Calibri"/>
            </a:endParaRPr>
          </a:p>
          <a:p>
            <a:pPr indent="0" lvl="0" marL="0" rtl="0" algn="l">
              <a:spcBef>
                <a:spcPts val="200"/>
              </a:spcBef>
              <a:spcAft>
                <a:spcPts val="0"/>
              </a:spcAft>
              <a:buClr>
                <a:schemeClr val="dk1"/>
              </a:buClr>
              <a:buFont typeface="Arial"/>
              <a:buNone/>
            </a:pPr>
            <a:r>
              <a:rPr lang="es-CL" sz="1100">
                <a:solidFill>
                  <a:schemeClr val="dk1"/>
                </a:solidFill>
                <a:latin typeface="Calibri"/>
                <a:ea typeface="Calibri"/>
                <a:cs typeface="Calibri"/>
                <a:sym typeface="Calibri"/>
              </a:rPr>
              <a:t>•</a:t>
            </a:r>
            <a:r>
              <a:rPr lang="es-CL">
                <a:solidFill>
                  <a:schemeClr val="dk1"/>
                </a:solidFill>
                <a:latin typeface="Calibri"/>
                <a:ea typeface="Calibri"/>
                <a:cs typeface="Calibri"/>
                <a:sym typeface="Calibri"/>
              </a:rPr>
              <a:t> Autenticación y seguridad: login, token JWT, recuperación de contraseña y control de acceso por rol (Administrador/Profesor).</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Gestión académica: alumnos, profesores, cursos, asignaturas y horarios.</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Registro biométrico: captura del rostro y extracción del descriptor facial (128 dimensiones).</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Asistencia automática por reconocimiento facial en tiempo real, con marcado manual de respaldo (borrador/definitivo).</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Justificación de inasistencias y aprobación por el docente.</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Reportes exportables en PDF/CSV, boletín de notas y alertas de asistencia bajo el 85%.</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Bitácora automática de auditoría y despliegue en Docker (web y escritorio con Electron).</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CL" sz="1800">
                <a:solidFill>
                  <a:schemeClr val="dk1"/>
                </a:solidFill>
                <a:latin typeface="Calibri"/>
                <a:ea typeface="Calibri"/>
                <a:cs typeface="Calibri"/>
                <a:sym typeface="Calibri"/>
              </a:rPr>
              <a:t>Qué no hace:</a:t>
            </a:r>
            <a:endParaRPr/>
          </a:p>
          <a:p>
            <a:pPr indent="0" lvl="0" marL="0" rtl="0" algn="l">
              <a:spcBef>
                <a:spcPts val="200"/>
              </a:spcBef>
              <a:spcAft>
                <a:spcPts val="0"/>
              </a:spcAft>
              <a:buClr>
                <a:schemeClr val="dk1"/>
              </a:buClr>
              <a:buFont typeface="Arial"/>
              <a:buNone/>
            </a:pPr>
            <a:r>
              <a:rPr lang="es-CL">
                <a:solidFill>
                  <a:schemeClr val="dk1"/>
                </a:solidFill>
                <a:latin typeface="Calibri"/>
                <a:ea typeface="Calibri"/>
                <a:cs typeface="Calibri"/>
                <a:sym typeface="Calibri"/>
              </a:rPr>
              <a:t>• No reemplaza un sistema de notas/ERP escolar completo (solo boletín simple con alertas).</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No gestiona pagos, matrículas económicas ni cobranza a apoderados.</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No es una app móvil de comunicación masiva con apoderados (solo notificaciones básicas).</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No controla el acceso físico a instalaciones (puertas, torniquetes); </a:t>
            </a:r>
            <a:r>
              <a:rPr lang="es-CL">
                <a:solidFill>
                  <a:schemeClr val="dk1"/>
                </a:solidFill>
                <a:latin typeface="Calibri"/>
                <a:ea typeface="Calibri"/>
                <a:cs typeface="Calibri"/>
                <a:sym typeface="Calibri"/>
              </a:rPr>
              <a:t>sólo</a:t>
            </a:r>
            <a:r>
              <a:rPr lang="es-CL">
                <a:solidFill>
                  <a:schemeClr val="dk1"/>
                </a:solidFill>
                <a:latin typeface="Calibri"/>
                <a:ea typeface="Calibri"/>
                <a:cs typeface="Calibri"/>
                <a:sym typeface="Calibri"/>
              </a:rPr>
              <a:t> asistencia en aula.</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No garantiza reconocimiento facial 100% infalible; requiere respaldo manual ante fallas.</a:t>
            </a:r>
            <a:endParaRPr>
              <a:solidFill>
                <a:schemeClr val="dk1"/>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es-CL">
                <a:solidFill>
                  <a:schemeClr val="dk1"/>
                </a:solidFill>
                <a:latin typeface="Calibri"/>
                <a:ea typeface="Calibri"/>
                <a:cs typeface="Calibri"/>
                <a:sym typeface="Calibri"/>
              </a:rPr>
              <a:t>• No almacena fotografías del rostro, solo descriptores matemáticos (cumplimiento normativo).</a:t>
            </a:r>
            <a:endParaRPr>
              <a:solidFill>
                <a:schemeClr val="dk1"/>
              </a:solidFill>
              <a:latin typeface="Calibri"/>
              <a:ea typeface="Calibri"/>
              <a:cs typeface="Calibri"/>
              <a:sym typeface="Calibri"/>
            </a:endParaRPr>
          </a:p>
          <a:p>
            <a:pPr indent="0" lvl="0" marL="0" rtl="0" algn="l">
              <a:spcBef>
                <a:spcPts val="300"/>
              </a:spcBef>
              <a:spcAft>
                <a:spcPts val="300"/>
              </a:spcAft>
              <a:buNone/>
            </a:pPr>
            <a:r>
              <a:rPr lang="es-CL">
                <a:solidFill>
                  <a:schemeClr val="dk1"/>
                </a:solidFill>
                <a:latin typeface="Calibri"/>
                <a:ea typeface="Calibri"/>
                <a:cs typeface="Calibri"/>
                <a:sym typeface="Calibri"/>
              </a:rPr>
              <a:t>• No opera sin la infraestructura de red local mínima que aporta el colegio.</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ph type="title"/>
          </p:nvPr>
        </p:nvSpPr>
        <p:spPr>
          <a:xfrm>
            <a:off x="841416" y="1054442"/>
            <a:ext cx="10515600" cy="752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Usuarios</a:t>
            </a:r>
            <a:endParaRPr/>
          </a:p>
        </p:txBody>
      </p:sp>
      <p:sp>
        <p:nvSpPr>
          <p:cNvPr id="135" name="Google Shape;135;p6"/>
          <p:cNvSpPr/>
          <p:nvPr/>
        </p:nvSpPr>
        <p:spPr>
          <a:xfrm>
            <a:off x="839487" y="1923143"/>
            <a:ext cx="10365542" cy="4332514"/>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600"/>
              </a:spcBef>
              <a:spcAft>
                <a:spcPts val="0"/>
              </a:spcAft>
              <a:buClr>
                <a:schemeClr val="dk1"/>
              </a:buClr>
              <a:buSzPts val="1500"/>
              <a:buFont typeface="Arial"/>
              <a:buNone/>
            </a:pPr>
            <a:r>
              <a:rPr b="1" lang="es-CL">
                <a:solidFill>
                  <a:schemeClr val="dk1"/>
                </a:solidFill>
                <a:latin typeface="Calibri"/>
                <a:ea typeface="Calibri"/>
                <a:cs typeface="Calibri"/>
                <a:sym typeface="Calibri"/>
              </a:rPr>
              <a:t>Administrador</a:t>
            </a:r>
            <a:endParaRPr>
              <a:solidFill>
                <a:schemeClr val="dk1"/>
              </a:solidFill>
              <a:latin typeface="Calibri"/>
              <a:ea typeface="Calibri"/>
              <a:cs typeface="Calibri"/>
              <a:sym typeface="Calibri"/>
            </a:endParaRPr>
          </a:p>
          <a:p>
            <a:pPr indent="0" lvl="0" marL="0" rtl="0" algn="l">
              <a:spcBef>
                <a:spcPts val="200"/>
              </a:spcBef>
              <a:spcAft>
                <a:spcPts val="0"/>
              </a:spcAft>
              <a:buClr>
                <a:schemeClr val="dk1"/>
              </a:buClr>
              <a:buFont typeface="Arial"/>
              <a:buNone/>
            </a:pPr>
            <a:r>
              <a:rPr lang="es-CL">
                <a:solidFill>
                  <a:schemeClr val="dk1"/>
                </a:solidFill>
                <a:latin typeface="Calibri"/>
                <a:ea typeface="Calibri"/>
                <a:cs typeface="Calibri"/>
                <a:sym typeface="Calibri"/>
              </a:rPr>
              <a:t>Gestiona usuarios, cursos, horarios y el cuerpo docente. Registra el rostro de los alumnos, configura el umbral de confianza biométrico y consulta reportes globales del colegio.</a:t>
            </a:r>
            <a:endParaRPr>
              <a:solidFill>
                <a:schemeClr val="dk1"/>
              </a:solidFill>
              <a:latin typeface="Calibri"/>
              <a:ea typeface="Calibri"/>
              <a:cs typeface="Calibri"/>
              <a:sym typeface="Calibri"/>
            </a:endParaRPr>
          </a:p>
          <a:p>
            <a:pPr indent="0" lvl="0" marL="0" rtl="0" algn="l">
              <a:spcBef>
                <a:spcPts val="1000"/>
              </a:spcBef>
              <a:spcAft>
                <a:spcPts val="0"/>
              </a:spcAft>
              <a:buClr>
                <a:schemeClr val="dk1"/>
              </a:buClr>
              <a:buFont typeface="Arial"/>
              <a:buNone/>
            </a:pPr>
            <a:r>
              <a:rPr b="1" lang="es-CL">
                <a:solidFill>
                  <a:schemeClr val="dk1"/>
                </a:solidFill>
                <a:latin typeface="Calibri"/>
                <a:ea typeface="Calibri"/>
                <a:cs typeface="Calibri"/>
                <a:sym typeface="Calibri"/>
              </a:rPr>
              <a:t>Profesor</a:t>
            </a:r>
            <a:endParaRPr>
              <a:solidFill>
                <a:schemeClr val="dk1"/>
              </a:solidFill>
              <a:latin typeface="Calibri"/>
              <a:ea typeface="Calibri"/>
              <a:cs typeface="Calibri"/>
              <a:sym typeface="Calibri"/>
            </a:endParaRPr>
          </a:p>
          <a:p>
            <a:pPr indent="0" lvl="0" marL="0" rtl="0" algn="l">
              <a:spcBef>
                <a:spcPts val="200"/>
              </a:spcBef>
              <a:spcAft>
                <a:spcPts val="0"/>
              </a:spcAft>
              <a:buClr>
                <a:schemeClr val="dk1"/>
              </a:buClr>
              <a:buFont typeface="Arial"/>
              <a:buNone/>
            </a:pPr>
            <a:r>
              <a:rPr lang="es-CL">
                <a:solidFill>
                  <a:schemeClr val="dk1"/>
                </a:solidFill>
                <a:latin typeface="Calibri"/>
                <a:ea typeface="Calibri"/>
                <a:cs typeface="Calibri"/>
                <a:sym typeface="Calibri"/>
              </a:rPr>
              <a:t>Marca asistencia manual como respaldo, gestiona justificaciones de inasistencia de su curso y consulta reportes de los cursos que tiene asignados.</a:t>
            </a:r>
            <a:endParaRPr>
              <a:solidFill>
                <a:schemeClr val="dk1"/>
              </a:solidFill>
              <a:latin typeface="Calibri"/>
              <a:ea typeface="Calibri"/>
              <a:cs typeface="Calibri"/>
              <a:sym typeface="Calibri"/>
            </a:endParaRPr>
          </a:p>
          <a:p>
            <a:pPr indent="0" lvl="0" marL="0" rtl="0" algn="l">
              <a:spcBef>
                <a:spcPts val="1000"/>
              </a:spcBef>
              <a:spcAft>
                <a:spcPts val="0"/>
              </a:spcAft>
              <a:buClr>
                <a:schemeClr val="dk1"/>
              </a:buClr>
              <a:buFont typeface="Arial"/>
              <a:buNone/>
            </a:pPr>
            <a:r>
              <a:rPr b="1" lang="es-CL">
                <a:solidFill>
                  <a:schemeClr val="dk1"/>
                </a:solidFill>
                <a:latin typeface="Calibri"/>
                <a:ea typeface="Calibri"/>
                <a:cs typeface="Calibri"/>
                <a:sym typeface="Calibri"/>
              </a:rPr>
              <a:t>Alumno (sin login)</a:t>
            </a:r>
            <a:endParaRPr>
              <a:solidFill>
                <a:schemeClr val="dk1"/>
              </a:solidFill>
              <a:latin typeface="Calibri"/>
              <a:ea typeface="Calibri"/>
              <a:cs typeface="Calibri"/>
              <a:sym typeface="Calibri"/>
            </a:endParaRPr>
          </a:p>
          <a:p>
            <a:pPr indent="0" lvl="0" marL="0" rtl="0" algn="l">
              <a:spcBef>
                <a:spcPts val="200"/>
              </a:spcBef>
              <a:spcAft>
                <a:spcPts val="400"/>
              </a:spcAft>
              <a:buClr>
                <a:schemeClr val="dk1"/>
              </a:buClr>
              <a:buFont typeface="Arial"/>
              <a:buNone/>
            </a:pPr>
            <a:r>
              <a:rPr lang="es-CL">
                <a:solidFill>
                  <a:schemeClr val="dk1"/>
                </a:solidFill>
                <a:latin typeface="Calibri"/>
                <a:ea typeface="Calibri"/>
                <a:cs typeface="Calibri"/>
                <a:sym typeface="Calibri"/>
              </a:rPr>
              <a:t>No inicia sesión con usuario y contraseña: se identifica frente a la cámara mediante reconocimiento facial, lo que marca su propia asistencia de forma automática.</a:t>
            </a:r>
            <a:endParaRPr>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841416" y="1054442"/>
            <a:ext cx="10515600" cy="752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Lista de Requerimientos</a:t>
            </a:r>
            <a:endParaRPr/>
          </a:p>
        </p:txBody>
      </p:sp>
      <p:sp>
        <p:nvSpPr>
          <p:cNvPr id="141" name="Google Shape;141;p7"/>
          <p:cNvSpPr/>
          <p:nvPr/>
        </p:nvSpPr>
        <p:spPr>
          <a:xfrm>
            <a:off x="839487" y="1923143"/>
            <a:ext cx="10365542" cy="4332514"/>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330200" lvl="0" marL="457200" rtl="0" algn="just">
              <a:lnSpc>
                <a:spcPct val="115000"/>
              </a:lnSpc>
              <a:spcBef>
                <a:spcPts val="0"/>
              </a:spcBef>
              <a:spcAft>
                <a:spcPts val="0"/>
              </a:spcAft>
              <a:buClr>
                <a:schemeClr val="dk1"/>
              </a:buClr>
              <a:buSzPts val="1600"/>
              <a:buFont typeface="Calibri"/>
              <a:buChar char="●"/>
            </a:pPr>
            <a:r>
              <a:rPr lang="es-CL" sz="1600">
                <a:solidFill>
                  <a:schemeClr val="dk1"/>
                </a:solidFill>
                <a:latin typeface="Calibri"/>
                <a:ea typeface="Calibri"/>
                <a:cs typeface="Calibri"/>
                <a:sym typeface="Calibri"/>
              </a:rPr>
              <a:t>Autenticación y gestión de usuarios (administradores y profesores).</a:t>
            </a:r>
            <a:endParaRPr sz="1600">
              <a:solidFill>
                <a:schemeClr val="dk1"/>
              </a:solidFill>
              <a:latin typeface="Calibri"/>
              <a:ea typeface="Calibri"/>
              <a:cs typeface="Calibri"/>
              <a:sym typeface="Calibri"/>
            </a:endParaRPr>
          </a:p>
          <a:p>
            <a:pPr indent="-330200" lvl="0" marL="457200" rtl="0" algn="just">
              <a:lnSpc>
                <a:spcPct val="115000"/>
              </a:lnSpc>
              <a:spcBef>
                <a:spcPts val="0"/>
              </a:spcBef>
              <a:spcAft>
                <a:spcPts val="0"/>
              </a:spcAft>
              <a:buClr>
                <a:schemeClr val="dk1"/>
              </a:buClr>
              <a:buSzPts val="1600"/>
              <a:buFont typeface="Calibri"/>
              <a:buChar char="●"/>
            </a:pPr>
            <a:r>
              <a:rPr lang="es-CL" sz="1600">
                <a:solidFill>
                  <a:schemeClr val="dk1"/>
                </a:solidFill>
                <a:latin typeface="Calibri"/>
                <a:ea typeface="Calibri"/>
                <a:cs typeface="Calibri"/>
                <a:sym typeface="Calibri"/>
              </a:rPr>
              <a:t>Gestión académica: alumnos, profesores, cursos, asignaturas y horarios.</a:t>
            </a:r>
            <a:endParaRPr sz="1600">
              <a:solidFill>
                <a:schemeClr val="dk1"/>
              </a:solidFill>
              <a:latin typeface="Calibri"/>
              <a:ea typeface="Calibri"/>
              <a:cs typeface="Calibri"/>
              <a:sym typeface="Calibri"/>
            </a:endParaRPr>
          </a:p>
          <a:p>
            <a:pPr indent="-330200" lvl="0" marL="457200" rtl="0" algn="just">
              <a:lnSpc>
                <a:spcPct val="115000"/>
              </a:lnSpc>
              <a:spcBef>
                <a:spcPts val="0"/>
              </a:spcBef>
              <a:spcAft>
                <a:spcPts val="0"/>
              </a:spcAft>
              <a:buClr>
                <a:schemeClr val="dk1"/>
              </a:buClr>
              <a:buSzPts val="1600"/>
              <a:buFont typeface="Calibri"/>
              <a:buChar char="●"/>
            </a:pPr>
            <a:r>
              <a:rPr lang="es-CL" sz="1600">
                <a:solidFill>
                  <a:schemeClr val="dk1"/>
                </a:solidFill>
                <a:latin typeface="Calibri"/>
                <a:ea typeface="Calibri"/>
                <a:cs typeface="Calibri"/>
                <a:sym typeface="Calibri"/>
              </a:rPr>
              <a:t>Registro de asistencia automático mediante reconocimiento facial, y manual como respaldo.</a:t>
            </a:r>
            <a:endParaRPr sz="1600">
              <a:solidFill>
                <a:schemeClr val="dk1"/>
              </a:solidFill>
              <a:latin typeface="Calibri"/>
              <a:ea typeface="Calibri"/>
              <a:cs typeface="Calibri"/>
              <a:sym typeface="Calibri"/>
            </a:endParaRPr>
          </a:p>
          <a:p>
            <a:pPr indent="-330200" lvl="0" marL="457200" rtl="0" algn="just">
              <a:lnSpc>
                <a:spcPct val="115000"/>
              </a:lnSpc>
              <a:spcBef>
                <a:spcPts val="0"/>
              </a:spcBef>
              <a:spcAft>
                <a:spcPts val="0"/>
              </a:spcAft>
              <a:buClr>
                <a:schemeClr val="dk1"/>
              </a:buClr>
              <a:buSzPts val="1600"/>
              <a:buFont typeface="Calibri"/>
              <a:buChar char="●"/>
            </a:pPr>
            <a:r>
              <a:rPr lang="es-CL" sz="1600">
                <a:solidFill>
                  <a:schemeClr val="dk1"/>
                </a:solidFill>
                <a:latin typeface="Calibri"/>
                <a:ea typeface="Calibri"/>
                <a:cs typeface="Calibri"/>
                <a:sym typeface="Calibri"/>
              </a:rPr>
              <a:t>Gestión de justificaciones de inasistencia.</a:t>
            </a:r>
            <a:endParaRPr sz="1600">
              <a:solidFill>
                <a:schemeClr val="dk1"/>
              </a:solidFill>
              <a:latin typeface="Calibri"/>
              <a:ea typeface="Calibri"/>
              <a:cs typeface="Calibri"/>
              <a:sym typeface="Calibri"/>
            </a:endParaRPr>
          </a:p>
          <a:p>
            <a:pPr indent="-330200" lvl="0" marL="457200" rtl="0" algn="just">
              <a:lnSpc>
                <a:spcPct val="115000"/>
              </a:lnSpc>
              <a:spcBef>
                <a:spcPts val="0"/>
              </a:spcBef>
              <a:spcAft>
                <a:spcPts val="0"/>
              </a:spcAft>
              <a:buClr>
                <a:schemeClr val="dk1"/>
              </a:buClr>
              <a:buSzPts val="1600"/>
              <a:buFont typeface="Calibri"/>
              <a:buChar char="●"/>
            </a:pPr>
            <a:r>
              <a:rPr lang="es-CL" sz="1600">
                <a:solidFill>
                  <a:schemeClr val="dk1"/>
                </a:solidFill>
                <a:latin typeface="Calibri"/>
                <a:ea typeface="Calibri"/>
                <a:cs typeface="Calibri"/>
                <a:sym typeface="Calibri"/>
              </a:rPr>
              <a:t>Generación de reportes y estadísticas exportables (PDF/CSV) y alertas de asistencia.</a:t>
            </a:r>
            <a:endParaRPr sz="1600">
              <a:solidFill>
                <a:schemeClr val="dk1"/>
              </a:solidFill>
              <a:latin typeface="Calibri"/>
              <a:ea typeface="Calibri"/>
              <a:cs typeface="Calibri"/>
              <a:sym typeface="Calibri"/>
            </a:endParaRPr>
          </a:p>
          <a:p>
            <a:pPr indent="-330200" lvl="0" marL="457200" rtl="0" algn="just">
              <a:lnSpc>
                <a:spcPct val="115000"/>
              </a:lnSpc>
              <a:spcBef>
                <a:spcPts val="0"/>
              </a:spcBef>
              <a:spcAft>
                <a:spcPts val="0"/>
              </a:spcAft>
              <a:buClr>
                <a:schemeClr val="dk1"/>
              </a:buClr>
              <a:buSzPts val="1600"/>
              <a:buFont typeface="Calibri"/>
              <a:buChar char="●"/>
            </a:pPr>
            <a:r>
              <a:rPr lang="es-CL" sz="1600">
                <a:solidFill>
                  <a:schemeClr val="dk1"/>
                </a:solidFill>
                <a:latin typeface="Calibri"/>
                <a:ea typeface="Calibri"/>
                <a:cs typeface="Calibri"/>
                <a:sym typeface="Calibri"/>
              </a:rPr>
              <a:t>Seguridad de la información (contraseñas hasheadas, tokens JWT, protección de datos biométricos).</a:t>
            </a:r>
            <a:endParaRPr sz="1600">
              <a:solidFill>
                <a:schemeClr val="dk1"/>
              </a:solidFill>
              <a:latin typeface="Calibri"/>
              <a:ea typeface="Calibri"/>
              <a:cs typeface="Calibri"/>
              <a:sym typeface="Calibri"/>
            </a:endParaRPr>
          </a:p>
          <a:p>
            <a:pPr indent="-330200" lvl="0" marL="457200" rtl="0" algn="just">
              <a:lnSpc>
                <a:spcPct val="115000"/>
              </a:lnSpc>
              <a:spcBef>
                <a:spcPts val="0"/>
              </a:spcBef>
              <a:spcAft>
                <a:spcPts val="0"/>
              </a:spcAft>
              <a:buClr>
                <a:schemeClr val="dk1"/>
              </a:buClr>
              <a:buSzPts val="1600"/>
              <a:buFont typeface="Calibri"/>
              <a:buChar char="●"/>
            </a:pPr>
            <a:r>
              <a:rPr lang="es-CL" sz="1600">
                <a:solidFill>
                  <a:schemeClr val="dk1"/>
                </a:solidFill>
                <a:latin typeface="Calibri"/>
                <a:ea typeface="Calibri"/>
                <a:cs typeface="Calibri"/>
                <a:sym typeface="Calibri"/>
              </a:rPr>
              <a:t>Despliegue contenedorizado (Docker) y empaquetado como app de escritorio.</a:t>
            </a:r>
            <a:endParaRPr sz="2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641252" y="1068511"/>
            <a:ext cx="10515600" cy="52080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Mockups del Sistema</a:t>
            </a:r>
            <a:endParaRPr/>
          </a:p>
        </p:txBody>
      </p:sp>
      <p:sp>
        <p:nvSpPr>
          <p:cNvPr id="147" name="Google Shape;147;p8"/>
          <p:cNvSpPr txBox="1"/>
          <p:nvPr/>
        </p:nvSpPr>
        <p:spPr>
          <a:xfrm>
            <a:off x="757367" y="1848356"/>
            <a:ext cx="9990462"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8" name="Google Shape;148;p8" title="mockups_todos_13 -01 - Autenticacion de usuarios.drawio.png"/>
          <p:cNvPicPr preferRelativeResize="0"/>
          <p:nvPr/>
        </p:nvPicPr>
        <p:blipFill>
          <a:blip r:embed="rId3">
            <a:alphaModFix/>
          </a:blip>
          <a:stretch>
            <a:fillRect/>
          </a:stretch>
        </p:blipFill>
        <p:spPr>
          <a:xfrm>
            <a:off x="476175" y="1848349"/>
            <a:ext cx="3978100" cy="4596226"/>
          </a:xfrm>
          <a:prstGeom prst="rect">
            <a:avLst/>
          </a:prstGeom>
          <a:noFill/>
          <a:ln>
            <a:noFill/>
          </a:ln>
        </p:spPr>
      </p:pic>
      <p:pic>
        <p:nvPicPr>
          <p:cNvPr id="149" name="Google Shape;149;p8" title="mockups_todos_13 -02 - Pagina inicial (Panel).drawio.png"/>
          <p:cNvPicPr preferRelativeResize="0"/>
          <p:nvPr/>
        </p:nvPicPr>
        <p:blipFill>
          <a:blip r:embed="rId4">
            <a:alphaModFix/>
          </a:blip>
          <a:stretch>
            <a:fillRect/>
          </a:stretch>
        </p:blipFill>
        <p:spPr>
          <a:xfrm>
            <a:off x="5075426" y="1872875"/>
            <a:ext cx="6796100" cy="45471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type="title"/>
          </p:nvPr>
        </p:nvSpPr>
        <p:spPr>
          <a:xfrm>
            <a:off x="641252" y="1068511"/>
            <a:ext cx="10515600" cy="52080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Mockups del Sistema</a:t>
            </a:r>
            <a:endParaRPr/>
          </a:p>
        </p:txBody>
      </p:sp>
      <p:sp>
        <p:nvSpPr>
          <p:cNvPr id="155" name="Google Shape;155;p9"/>
          <p:cNvSpPr txBox="1"/>
          <p:nvPr/>
        </p:nvSpPr>
        <p:spPr>
          <a:xfrm>
            <a:off x="757367" y="1848356"/>
            <a:ext cx="9990462"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56" name="Google Shape;156;p9" title="mockups_todos_13 -03 - Modulo de Asistencia.drawio.png"/>
          <p:cNvPicPr preferRelativeResize="0"/>
          <p:nvPr/>
        </p:nvPicPr>
        <p:blipFill>
          <a:blip r:embed="rId3">
            <a:alphaModFix/>
          </a:blip>
          <a:stretch>
            <a:fillRect/>
          </a:stretch>
        </p:blipFill>
        <p:spPr>
          <a:xfrm>
            <a:off x="152400" y="1848350"/>
            <a:ext cx="5742375" cy="3842124"/>
          </a:xfrm>
          <a:prstGeom prst="rect">
            <a:avLst/>
          </a:prstGeom>
          <a:noFill/>
          <a:ln>
            <a:noFill/>
          </a:ln>
        </p:spPr>
      </p:pic>
      <p:pic>
        <p:nvPicPr>
          <p:cNvPr id="157" name="Google Shape;157;p9" title="mockups_todos_13 -06 - Modulo Academico (Horarios).drawio.png"/>
          <p:cNvPicPr preferRelativeResize="0"/>
          <p:nvPr/>
        </p:nvPicPr>
        <p:blipFill>
          <a:blip r:embed="rId4">
            <a:alphaModFix/>
          </a:blip>
          <a:stretch>
            <a:fillRect/>
          </a:stretch>
        </p:blipFill>
        <p:spPr>
          <a:xfrm>
            <a:off x="5998300" y="1848350"/>
            <a:ext cx="5962323" cy="39893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641252" y="1068511"/>
            <a:ext cx="10515600" cy="64417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Hitos Importantes </a:t>
            </a:r>
            <a:endParaRPr/>
          </a:p>
        </p:txBody>
      </p:sp>
      <p:graphicFrame>
        <p:nvGraphicFramePr>
          <p:cNvPr id="163" name="Google Shape;163;p10"/>
          <p:cNvGraphicFramePr/>
          <p:nvPr/>
        </p:nvGraphicFramePr>
        <p:xfrm>
          <a:off x="2212725" y="2654250"/>
          <a:ext cx="3000000" cy="3000000"/>
        </p:xfrm>
        <a:graphic>
          <a:graphicData uri="http://schemas.openxmlformats.org/drawingml/2006/table">
            <a:tbl>
              <a:tblPr bandCol="1" bandRow="1">
                <a:noFill/>
                <a:tableStyleId>{C764EBFD-E26B-4E09-A7FD-8D1285A47B80}</a:tableStyleId>
              </a:tblPr>
              <a:tblGrid>
                <a:gridCol w="5042525"/>
                <a:gridCol w="2447600"/>
              </a:tblGrid>
              <a:tr h="224825">
                <a:tc>
                  <a:txBody>
                    <a:bodyPr/>
                    <a:lstStyle/>
                    <a:p>
                      <a:pPr indent="0" lvl="0" marL="0" rtl="0" algn="ctr">
                        <a:spcBef>
                          <a:spcPts val="0"/>
                        </a:spcBef>
                        <a:spcAft>
                          <a:spcPts val="0"/>
                        </a:spcAft>
                        <a:buNone/>
                      </a:pPr>
                      <a:r>
                        <a:rPr b="1" lang="es-CL">
                          <a:latin typeface="Calibri"/>
                          <a:ea typeface="Calibri"/>
                          <a:cs typeface="Calibri"/>
                          <a:sym typeface="Calibri"/>
                        </a:rPr>
                        <a:t>Hito</a:t>
                      </a:r>
                      <a:endParaRPr b="1">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s-CL">
                          <a:latin typeface="Calibri"/>
                          <a:ea typeface="Calibri"/>
                          <a:cs typeface="Calibri"/>
                          <a:sym typeface="Calibri"/>
                        </a:rPr>
                        <a:t>Fecha tope</a:t>
                      </a:r>
                      <a:endParaRPr b="1">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36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Aprobación del Acta de Constitución</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24/08/2026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36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Entrega Fase 1: requerimientos, casos de uso, ERS, EDT-costos y mockups</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07/09/2026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49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Diseño de la base de datos y arquitectura de microservicios (Entrega Fase 2 - parte 1: DAS)</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30/09/2026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36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Módulo de gestión académica operativo</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12/10/2026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36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Módulo de asistencia (manual + estados) operativo</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19/10/2026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36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Módulo de reconocimiento facial funcional</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26/10/2026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36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Módulo de reportes (PDF/CSV, libro de clases, boletín)</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02/11/2026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49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Entrega Fase 2 - parte 2: desarrollo 100% del sistema, script de BD y pruebas de integración</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09/11/2026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36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Plan de pruebas, manual de usuario, plan de capacitación e informe de cierre</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30/11/2026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36675">
                <a:tc>
                  <a:txBody>
                    <a:bodyPr/>
                    <a:lstStyle/>
                    <a:p>
                      <a:pPr indent="0" lvl="0" marL="0" rtl="0" algn="l">
                        <a:lnSpc>
                          <a:spcPct val="110000"/>
                        </a:lnSpc>
                        <a:spcBef>
                          <a:spcPts val="0"/>
                        </a:spcBef>
                        <a:spcAft>
                          <a:spcPts val="200"/>
                        </a:spcAft>
                        <a:buNone/>
                      </a:pPr>
                      <a:r>
                        <a:rPr lang="es-CL" sz="1200">
                          <a:solidFill>
                            <a:srgbClr val="222222"/>
                          </a:solidFill>
                          <a:latin typeface="Calibri"/>
                          <a:ea typeface="Calibri"/>
                          <a:cs typeface="Calibri"/>
                          <a:sym typeface="Calibri"/>
                        </a:rPr>
                        <a:t>Entrega Fase 3: presentación final, defensa y cierre del proyecto</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s-CL">
                          <a:latin typeface="Calibri"/>
                          <a:ea typeface="Calibri"/>
                          <a:cs typeface="Calibri"/>
                          <a:sym typeface="Calibri"/>
                        </a:rPr>
                        <a:t>01 al 05/12/2026</a:t>
                      </a:r>
                      <a:endParaRPr>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ph type="title"/>
          </p:nvPr>
        </p:nvSpPr>
        <p:spPr>
          <a:xfrm>
            <a:off x="706567" y="901597"/>
            <a:ext cx="10515600" cy="58611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Costos por Fase </a:t>
            </a:r>
            <a:endParaRPr/>
          </a:p>
        </p:txBody>
      </p:sp>
      <p:sp>
        <p:nvSpPr>
          <p:cNvPr id="169" name="Google Shape;169;p11"/>
          <p:cNvSpPr/>
          <p:nvPr/>
        </p:nvSpPr>
        <p:spPr>
          <a:xfrm>
            <a:off x="782337" y="1681843"/>
            <a:ext cx="10247613" cy="4332514"/>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70" name="Google Shape;170;p11"/>
          <p:cNvGraphicFramePr/>
          <p:nvPr/>
        </p:nvGraphicFramePr>
        <p:xfrm>
          <a:off x="2840650" y="2298700"/>
          <a:ext cx="3000000" cy="3000000"/>
        </p:xfrm>
        <a:graphic>
          <a:graphicData uri="http://schemas.openxmlformats.org/drawingml/2006/table">
            <a:tbl>
              <a:tblPr>
                <a:noFill/>
                <a:tableStyleId>{8B8C4F8D-2DE2-4694-8329-63C6E5243738}</a:tableStyleId>
              </a:tblPr>
              <a:tblGrid>
                <a:gridCol w="2974975"/>
                <a:gridCol w="2927350"/>
              </a:tblGrid>
              <a:tr h="327025">
                <a:tc>
                  <a:txBody>
                    <a:bodyPr/>
                    <a:lstStyle/>
                    <a:p>
                      <a:pPr indent="0" lvl="0" marL="0" rtl="0" algn="l">
                        <a:lnSpc>
                          <a:spcPct val="110000"/>
                        </a:lnSpc>
                        <a:spcBef>
                          <a:spcPts val="0"/>
                        </a:spcBef>
                        <a:spcAft>
                          <a:spcPts val="0"/>
                        </a:spcAft>
                        <a:buNone/>
                      </a:pPr>
                      <a:r>
                        <a:rPr b="1" lang="es-CL" sz="1000">
                          <a:solidFill>
                            <a:srgbClr val="FFFFFF"/>
                          </a:solidFill>
                          <a:latin typeface="Calibri"/>
                          <a:ea typeface="Calibri"/>
                          <a:cs typeface="Calibri"/>
                          <a:sym typeface="Calibri"/>
                        </a:rPr>
                        <a:t>Ítem</a:t>
                      </a:r>
                      <a:endParaRPr b="1" sz="1000">
                        <a:solidFill>
                          <a:srgbClr val="FFFFFF"/>
                        </a:solidFill>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2E5496"/>
                    </a:solidFill>
                  </a:tcPr>
                </a:tc>
                <a:tc>
                  <a:txBody>
                    <a:bodyPr/>
                    <a:lstStyle/>
                    <a:p>
                      <a:pPr indent="0" lvl="0" marL="0" rtl="0" algn="r">
                        <a:lnSpc>
                          <a:spcPct val="110000"/>
                        </a:lnSpc>
                        <a:spcBef>
                          <a:spcPts val="0"/>
                        </a:spcBef>
                        <a:spcAft>
                          <a:spcPts val="0"/>
                        </a:spcAft>
                        <a:buNone/>
                      </a:pPr>
                      <a:r>
                        <a:rPr b="1" lang="es-CL" sz="1000">
                          <a:solidFill>
                            <a:srgbClr val="FFFFFF"/>
                          </a:solidFill>
                          <a:latin typeface="Calibri"/>
                          <a:ea typeface="Calibri"/>
                          <a:cs typeface="Calibri"/>
                          <a:sym typeface="Calibri"/>
                        </a:rPr>
                        <a:t>Monto (CLP)</a:t>
                      </a:r>
                      <a:endParaRPr b="1" sz="1000">
                        <a:solidFill>
                          <a:srgbClr val="FFFFFF"/>
                        </a:solidFill>
                        <a:latin typeface="Calibri"/>
                        <a:ea typeface="Calibri"/>
                        <a:cs typeface="Calibri"/>
                        <a:sym typeface="Calibri"/>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2E5496"/>
                    </a:solidFill>
                  </a:tcPr>
                </a:tc>
              </a:tr>
              <a:tr h="488950">
                <a:tc>
                  <a:txBody>
                    <a:bodyPr/>
                    <a:lstStyle/>
                    <a:p>
                      <a:pPr indent="0" lvl="0" marL="0" rtl="0" algn="l">
                        <a:lnSpc>
                          <a:spcPct val="110000"/>
                        </a:lnSpc>
                        <a:spcBef>
                          <a:spcPts val="0"/>
                        </a:spcBef>
                        <a:spcAft>
                          <a:spcPts val="0"/>
                        </a:spcAft>
                        <a:buNone/>
                      </a:pPr>
                      <a:r>
                        <a:rPr b="1" lang="es-CL" sz="1000">
                          <a:solidFill>
                            <a:srgbClr val="222222"/>
                          </a:solidFill>
                          <a:latin typeface="Calibri"/>
                          <a:ea typeface="Calibri"/>
                          <a:cs typeface="Calibri"/>
                          <a:sym typeface="Calibri"/>
                        </a:rPr>
                        <a:t>Fase de Planificación (constitución, requerimientos y organización)</a:t>
                      </a:r>
                      <a:endParaRPr b="1" sz="1000">
                        <a:solidFill>
                          <a:srgbClr val="222222"/>
                        </a:solidFill>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c>
                  <a:txBody>
                    <a:bodyPr/>
                    <a:lstStyle/>
                    <a:p>
                      <a:pPr indent="0" lvl="0" marL="0" rtl="0" algn="r">
                        <a:lnSpc>
                          <a:spcPct val="110000"/>
                        </a:lnSpc>
                        <a:spcBef>
                          <a:spcPts val="0"/>
                        </a:spcBef>
                        <a:spcAft>
                          <a:spcPts val="0"/>
                        </a:spcAft>
                        <a:buNone/>
                      </a:pPr>
                      <a:r>
                        <a:rPr b="1" lang="es-CL" sz="1000">
                          <a:solidFill>
                            <a:srgbClr val="222222"/>
                          </a:solidFill>
                          <a:latin typeface="Calibri"/>
                          <a:ea typeface="Calibri"/>
                          <a:cs typeface="Calibri"/>
                          <a:sym typeface="Calibri"/>
                        </a:rPr>
                        <a:t>$580.000</a:t>
                      </a:r>
                      <a:endParaRPr b="1" sz="1000">
                        <a:solidFill>
                          <a:srgbClr val="222222"/>
                        </a:solidFill>
                        <a:latin typeface="Calibri"/>
                        <a:ea typeface="Calibri"/>
                        <a:cs typeface="Calibri"/>
                        <a:sym typeface="Calibri"/>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r>
              <a:tr h="488950">
                <a:tc>
                  <a:txBody>
                    <a:bodyPr/>
                    <a:lstStyle/>
                    <a:p>
                      <a:pPr indent="0" lvl="0" marL="0" rtl="0" algn="l">
                        <a:lnSpc>
                          <a:spcPct val="110000"/>
                        </a:lnSpc>
                        <a:spcBef>
                          <a:spcPts val="0"/>
                        </a:spcBef>
                        <a:spcAft>
                          <a:spcPts val="0"/>
                        </a:spcAft>
                        <a:buNone/>
                      </a:pPr>
                      <a:r>
                        <a:rPr b="1" lang="es-CL" sz="1000">
                          <a:solidFill>
                            <a:srgbClr val="222222"/>
                          </a:solidFill>
                          <a:latin typeface="Calibri"/>
                          <a:ea typeface="Calibri"/>
                          <a:cs typeface="Calibri"/>
                          <a:sym typeface="Calibri"/>
                        </a:rPr>
                        <a:t>Fase de Análisis y Diseño (arquitectura, casos de uso, ERS y prototipos)</a:t>
                      </a:r>
                      <a:endParaRPr b="1" sz="1000">
                        <a:solidFill>
                          <a:srgbClr val="222222"/>
                        </a:solidFill>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c>
                  <a:txBody>
                    <a:bodyPr/>
                    <a:lstStyle/>
                    <a:p>
                      <a:pPr indent="0" lvl="0" marL="0" rtl="0" algn="r">
                        <a:lnSpc>
                          <a:spcPct val="110000"/>
                        </a:lnSpc>
                        <a:spcBef>
                          <a:spcPts val="0"/>
                        </a:spcBef>
                        <a:spcAft>
                          <a:spcPts val="0"/>
                        </a:spcAft>
                        <a:buNone/>
                      </a:pPr>
                      <a:r>
                        <a:rPr b="1" lang="es-CL" sz="1000">
                          <a:solidFill>
                            <a:srgbClr val="222222"/>
                          </a:solidFill>
                          <a:latin typeface="Calibri"/>
                          <a:ea typeface="Calibri"/>
                          <a:cs typeface="Calibri"/>
                          <a:sym typeface="Calibri"/>
                        </a:rPr>
                        <a:t>$580.000</a:t>
                      </a:r>
                      <a:endParaRPr b="1" sz="1000">
                        <a:solidFill>
                          <a:srgbClr val="222222"/>
                        </a:solidFill>
                        <a:latin typeface="Calibri"/>
                        <a:ea typeface="Calibri"/>
                        <a:cs typeface="Calibri"/>
                        <a:sym typeface="Calibri"/>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r>
              <a:tr h="488950">
                <a:tc>
                  <a:txBody>
                    <a:bodyPr/>
                    <a:lstStyle/>
                    <a:p>
                      <a:pPr indent="0" lvl="0" marL="0" rtl="0" algn="l">
                        <a:lnSpc>
                          <a:spcPct val="110000"/>
                        </a:lnSpc>
                        <a:spcBef>
                          <a:spcPts val="0"/>
                        </a:spcBef>
                        <a:spcAft>
                          <a:spcPts val="0"/>
                        </a:spcAft>
                        <a:buNone/>
                      </a:pPr>
                      <a:r>
                        <a:rPr b="1" lang="es-CL" sz="1000">
                          <a:solidFill>
                            <a:srgbClr val="222222"/>
                          </a:solidFill>
                          <a:latin typeface="Calibri"/>
                          <a:ea typeface="Calibri"/>
                          <a:cs typeface="Calibri"/>
                          <a:sym typeface="Calibri"/>
                        </a:rPr>
                        <a:t>Fase de Desarrollo (base de datos, 4 microservicios, frontend, Nginx y Docker)</a:t>
                      </a:r>
                      <a:endParaRPr b="1" sz="1000">
                        <a:solidFill>
                          <a:srgbClr val="222222"/>
                        </a:solidFill>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c>
                  <a:txBody>
                    <a:bodyPr/>
                    <a:lstStyle/>
                    <a:p>
                      <a:pPr indent="0" lvl="0" marL="0" rtl="0" algn="r">
                        <a:lnSpc>
                          <a:spcPct val="110000"/>
                        </a:lnSpc>
                        <a:spcBef>
                          <a:spcPts val="0"/>
                        </a:spcBef>
                        <a:spcAft>
                          <a:spcPts val="0"/>
                        </a:spcAft>
                        <a:buNone/>
                      </a:pPr>
                      <a:r>
                        <a:rPr b="1" lang="es-CL" sz="1000">
                          <a:solidFill>
                            <a:srgbClr val="222222"/>
                          </a:solidFill>
                          <a:latin typeface="Calibri"/>
                          <a:ea typeface="Calibri"/>
                          <a:cs typeface="Calibri"/>
                          <a:sym typeface="Calibri"/>
                        </a:rPr>
                        <a:t>$4.325.000</a:t>
                      </a:r>
                      <a:endParaRPr b="1" sz="1000">
                        <a:solidFill>
                          <a:srgbClr val="222222"/>
                        </a:solidFill>
                        <a:latin typeface="Calibri"/>
                        <a:ea typeface="Calibri"/>
                        <a:cs typeface="Calibri"/>
                        <a:sym typeface="Calibri"/>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r>
              <a:tr h="488950">
                <a:tc>
                  <a:txBody>
                    <a:bodyPr/>
                    <a:lstStyle/>
                    <a:p>
                      <a:pPr indent="0" lvl="0" marL="0" rtl="0" algn="l">
                        <a:lnSpc>
                          <a:spcPct val="110000"/>
                        </a:lnSpc>
                        <a:spcBef>
                          <a:spcPts val="0"/>
                        </a:spcBef>
                        <a:spcAft>
                          <a:spcPts val="0"/>
                        </a:spcAft>
                        <a:buNone/>
                      </a:pPr>
                      <a:r>
                        <a:rPr b="1" lang="es-CL" sz="1000">
                          <a:solidFill>
                            <a:srgbClr val="222222"/>
                          </a:solidFill>
                          <a:latin typeface="Calibri"/>
                          <a:ea typeface="Calibri"/>
                          <a:cs typeface="Calibri"/>
                          <a:sym typeface="Calibri"/>
                        </a:rPr>
                        <a:t>Fase de Pruebas y QA (pruebas funcionales, integración y usuarios)</a:t>
                      </a:r>
                      <a:endParaRPr b="1" sz="1000">
                        <a:solidFill>
                          <a:srgbClr val="222222"/>
                        </a:solidFill>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c>
                  <a:txBody>
                    <a:bodyPr/>
                    <a:lstStyle/>
                    <a:p>
                      <a:pPr indent="0" lvl="0" marL="0" rtl="0" algn="r">
                        <a:lnSpc>
                          <a:spcPct val="110000"/>
                        </a:lnSpc>
                        <a:spcBef>
                          <a:spcPts val="0"/>
                        </a:spcBef>
                        <a:spcAft>
                          <a:spcPts val="0"/>
                        </a:spcAft>
                        <a:buNone/>
                      </a:pPr>
                      <a:r>
                        <a:rPr b="1" lang="es-CL" sz="1000">
                          <a:solidFill>
                            <a:srgbClr val="222222"/>
                          </a:solidFill>
                          <a:latin typeface="Calibri"/>
                          <a:ea typeface="Calibri"/>
                          <a:cs typeface="Calibri"/>
                          <a:sym typeface="Calibri"/>
                        </a:rPr>
                        <a:t>$540.000</a:t>
                      </a:r>
                      <a:endParaRPr b="1" sz="1000">
                        <a:solidFill>
                          <a:srgbClr val="222222"/>
                        </a:solidFill>
                        <a:latin typeface="Calibri"/>
                        <a:ea typeface="Calibri"/>
                        <a:cs typeface="Calibri"/>
                        <a:sym typeface="Calibri"/>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r>
              <a:tr h="488950">
                <a:tc>
                  <a:txBody>
                    <a:bodyPr/>
                    <a:lstStyle/>
                    <a:p>
                      <a:pPr indent="0" lvl="0" marL="0" rtl="0" algn="l">
                        <a:lnSpc>
                          <a:spcPct val="110000"/>
                        </a:lnSpc>
                        <a:spcBef>
                          <a:spcPts val="0"/>
                        </a:spcBef>
                        <a:spcAft>
                          <a:spcPts val="0"/>
                        </a:spcAft>
                        <a:buNone/>
                      </a:pPr>
                      <a:r>
                        <a:rPr b="1" lang="es-CL" sz="1000">
                          <a:solidFill>
                            <a:srgbClr val="222222"/>
                          </a:solidFill>
                          <a:latin typeface="Calibri"/>
                          <a:ea typeface="Calibri"/>
                          <a:cs typeface="Calibri"/>
                          <a:sym typeface="Calibri"/>
                        </a:rPr>
                        <a:t>Fase de Implementación y Cierre (producción, capacitación y manuales)</a:t>
                      </a:r>
                      <a:endParaRPr b="1" sz="1000">
                        <a:solidFill>
                          <a:srgbClr val="222222"/>
                        </a:solidFill>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c>
                  <a:txBody>
                    <a:bodyPr/>
                    <a:lstStyle/>
                    <a:p>
                      <a:pPr indent="0" lvl="0" marL="0" rtl="0" algn="r">
                        <a:lnSpc>
                          <a:spcPct val="110000"/>
                        </a:lnSpc>
                        <a:spcBef>
                          <a:spcPts val="0"/>
                        </a:spcBef>
                        <a:spcAft>
                          <a:spcPts val="0"/>
                        </a:spcAft>
                        <a:buNone/>
                      </a:pPr>
                      <a:r>
                        <a:rPr b="1" lang="es-CL" sz="1000">
                          <a:solidFill>
                            <a:srgbClr val="222222"/>
                          </a:solidFill>
                          <a:latin typeface="Calibri"/>
                          <a:ea typeface="Calibri"/>
                          <a:cs typeface="Calibri"/>
                          <a:sym typeface="Calibri"/>
                        </a:rPr>
                        <a:t>$520.000</a:t>
                      </a:r>
                      <a:endParaRPr b="1" sz="1000">
                        <a:solidFill>
                          <a:srgbClr val="222222"/>
                        </a:solidFill>
                        <a:latin typeface="Calibri"/>
                        <a:ea typeface="Calibri"/>
                        <a:cs typeface="Calibri"/>
                        <a:sym typeface="Calibri"/>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00FFFF"/>
                    </a:solidFill>
                  </a:tcPr>
                </a:tc>
              </a:tr>
              <a:tr h="327025">
                <a:tc>
                  <a:txBody>
                    <a:bodyPr/>
                    <a:lstStyle/>
                    <a:p>
                      <a:pPr indent="0" lvl="0" marL="0" rtl="0" algn="l">
                        <a:lnSpc>
                          <a:spcPct val="110000"/>
                        </a:lnSpc>
                        <a:spcBef>
                          <a:spcPts val="0"/>
                        </a:spcBef>
                        <a:spcAft>
                          <a:spcPts val="0"/>
                        </a:spcAft>
                        <a:buNone/>
                      </a:pPr>
                      <a:r>
                        <a:rPr b="1" lang="es-CL" sz="1000">
                          <a:solidFill>
                            <a:srgbClr val="222222"/>
                          </a:solidFill>
                          <a:latin typeface="Calibri"/>
                          <a:ea typeface="Calibri"/>
                          <a:cs typeface="Calibri"/>
                          <a:sym typeface="Calibri"/>
                        </a:rPr>
                        <a:t>Total del proyecto (según Matriz EDT)</a:t>
                      </a:r>
                      <a:endParaRPr b="1" sz="1000">
                        <a:solidFill>
                          <a:srgbClr val="222222"/>
                        </a:solidFill>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FFFF"/>
                    </a:solidFill>
                  </a:tcPr>
                </a:tc>
                <a:tc>
                  <a:txBody>
                    <a:bodyPr/>
                    <a:lstStyle/>
                    <a:p>
                      <a:pPr indent="0" lvl="0" marL="0" rtl="0" algn="r">
                        <a:lnSpc>
                          <a:spcPct val="110000"/>
                        </a:lnSpc>
                        <a:spcBef>
                          <a:spcPts val="0"/>
                        </a:spcBef>
                        <a:spcAft>
                          <a:spcPts val="0"/>
                        </a:spcAft>
                        <a:buNone/>
                      </a:pPr>
                      <a:r>
                        <a:rPr b="1" lang="es-CL" sz="1000">
                          <a:solidFill>
                            <a:srgbClr val="222222"/>
                          </a:solidFill>
                          <a:latin typeface="Calibri"/>
                          <a:ea typeface="Calibri"/>
                          <a:cs typeface="Calibri"/>
                          <a:sym typeface="Calibri"/>
                        </a:rPr>
                        <a:t>$6.545.000</a:t>
                      </a:r>
                      <a:endParaRPr b="1" sz="1000">
                        <a:solidFill>
                          <a:srgbClr val="222222"/>
                        </a:solidFill>
                        <a:latin typeface="Calibri"/>
                        <a:ea typeface="Calibri"/>
                        <a:cs typeface="Calibri"/>
                        <a:sym typeface="Calibri"/>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641252" y="1068511"/>
            <a:ext cx="10515600" cy="64417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Tecnologías del Desarrollo</a:t>
            </a:r>
            <a:endParaRPr/>
          </a:p>
        </p:txBody>
      </p:sp>
      <p:sp>
        <p:nvSpPr>
          <p:cNvPr id="176" name="Google Shape;176;p12"/>
          <p:cNvSpPr txBox="1"/>
          <p:nvPr/>
        </p:nvSpPr>
        <p:spPr>
          <a:xfrm>
            <a:off x="641252" y="1828016"/>
            <a:ext cx="1086131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Breve descripción de las tecnologías y versiones utilizadas para el desarrollo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77" name="Google Shape;177;p12"/>
          <p:cNvGraphicFramePr/>
          <p:nvPr/>
        </p:nvGraphicFramePr>
        <p:xfrm>
          <a:off x="279950" y="2968200"/>
          <a:ext cx="3000000" cy="3000000"/>
        </p:xfrm>
        <a:graphic>
          <a:graphicData uri="http://schemas.openxmlformats.org/drawingml/2006/table">
            <a:tbl>
              <a:tblPr bandCol="1" bandRow="1">
                <a:noFill/>
                <a:tableStyleId>{C764EBFD-E26B-4E09-A7FD-8D1285A47B80}</a:tableStyleId>
              </a:tblPr>
              <a:tblGrid>
                <a:gridCol w="3195325"/>
                <a:gridCol w="3195325"/>
              </a:tblGrid>
              <a:tr h="12700">
                <a:tc>
                  <a:txBody>
                    <a:bodyPr/>
                    <a:lstStyle/>
                    <a:p>
                      <a:pPr indent="0" lvl="0" marL="0" rtl="0" algn="l">
                        <a:spcBef>
                          <a:spcPts val="0"/>
                        </a:spcBef>
                        <a:spcAft>
                          <a:spcPts val="0"/>
                        </a:spcAft>
                        <a:buNone/>
                      </a:pPr>
                      <a:r>
                        <a:rPr lang="es-CL" sz="1200">
                          <a:latin typeface="Calibri"/>
                          <a:ea typeface="Calibri"/>
                          <a:cs typeface="Calibri"/>
                          <a:sym typeface="Calibri"/>
                        </a:rPr>
                        <a:t>Componente</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Herramienta / Tecnología</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Backend (4 APIs)</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Node.js (microservicios independientes)</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Base de datos</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PostgreSQL (32 tablas normalizadas)</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Reconocimiento facial</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Face-api.js (detección y descriptor facial de 128 dimensiones)</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Comunicación en tiempo real</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WebSocket (API Facial)</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Autenticación</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JWT (JSON Web Token), contraseñas hasheadas con bcrypt</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Seguridad HTTP</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Helmet.js, política CORS restringida</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Contenedores/orquestación</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Docker y Docker Compose</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Servidor web frontend</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Nginx</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Frontend web</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HTML / CSS / JavaScript</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Empaquetado de escritorio</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Electron</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Reportes</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Generación de PDF y CSV/Excel</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s-CL" sz="1200">
                          <a:latin typeface="Calibri"/>
                          <a:ea typeface="Calibri"/>
                          <a:cs typeface="Calibri"/>
                          <a:sym typeface="Calibri"/>
                        </a:rPr>
                        <a:t>Control de versiones</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200">
                          <a:latin typeface="Calibri"/>
                          <a:ea typeface="Calibri"/>
                          <a:cs typeface="Calibri"/>
                          <a:sym typeface="Calibri"/>
                        </a:rPr>
                        <a:t>Git / GitHub (revisión cruzada de código)</a:t>
                      </a:r>
                      <a:endParaRPr sz="1200">
                        <a:latin typeface="Calibri"/>
                        <a:ea typeface="Calibri"/>
                        <a:cs typeface="Calibri"/>
                        <a:sym typeface="Calibri"/>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
        <p:nvSpPr>
          <p:cNvPr id="178" name="Google Shape;178;p12"/>
          <p:cNvSpPr txBox="1"/>
          <p:nvPr/>
        </p:nvSpPr>
        <p:spPr>
          <a:xfrm>
            <a:off x="7206625" y="2379525"/>
            <a:ext cx="3000000" cy="40635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Calibri"/>
              <a:buChar char="●"/>
            </a:pPr>
            <a:r>
              <a:rPr b="1" lang="es-CL" sz="1200">
                <a:solidFill>
                  <a:schemeClr val="dk1"/>
                </a:solidFill>
                <a:latin typeface="Calibri"/>
                <a:ea typeface="Calibri"/>
                <a:cs typeface="Calibri"/>
                <a:sym typeface="Calibri"/>
              </a:rPr>
              <a:t>Navegador web</a:t>
            </a:r>
            <a:r>
              <a:rPr lang="es-CL" sz="1200">
                <a:solidFill>
                  <a:schemeClr val="dk1"/>
                </a:solidFill>
                <a:latin typeface="Calibri"/>
                <a:ea typeface="Calibri"/>
                <a:cs typeface="Calibri"/>
                <a:sym typeface="Calibri"/>
              </a:rPr>
              <a:t> (De preferencia del usuario final) como cliente para acceder al frontend.</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s-CL" sz="1200">
                <a:solidFill>
                  <a:schemeClr val="dk1"/>
                </a:solidFill>
                <a:latin typeface="Calibri"/>
                <a:ea typeface="Calibri"/>
                <a:cs typeface="Calibri"/>
                <a:sym typeface="Calibri"/>
              </a:rPr>
              <a:t>API REST/WebSocket</a:t>
            </a:r>
            <a:r>
              <a:rPr lang="es-CL" sz="1200">
                <a:solidFill>
                  <a:schemeClr val="dk1"/>
                </a:solidFill>
                <a:latin typeface="Calibri"/>
                <a:ea typeface="Calibri"/>
                <a:cs typeface="Calibri"/>
                <a:sym typeface="Calibri"/>
              </a:rPr>
              <a:t> entre el frontend y los 4 microservicios backend.</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s-CL" sz="1200">
                <a:solidFill>
                  <a:schemeClr val="dk1"/>
                </a:solidFill>
                <a:latin typeface="Calibri"/>
                <a:ea typeface="Calibri"/>
                <a:cs typeface="Calibri"/>
                <a:sym typeface="Calibri"/>
              </a:rPr>
              <a:t>PostgreSQL</a:t>
            </a:r>
            <a:r>
              <a:rPr lang="es-CL" sz="1200">
                <a:solidFill>
                  <a:schemeClr val="dk1"/>
                </a:solidFill>
                <a:latin typeface="Calibri"/>
                <a:ea typeface="Calibri"/>
                <a:cs typeface="Calibri"/>
                <a:sym typeface="Calibri"/>
              </a:rPr>
              <a:t> como interfaz de persistencia de datos.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s-CL" sz="1200">
                <a:solidFill>
                  <a:schemeClr val="dk1"/>
                </a:solidFill>
                <a:latin typeface="Calibri"/>
                <a:ea typeface="Calibri"/>
                <a:cs typeface="Calibri"/>
                <a:sym typeface="Calibri"/>
              </a:rPr>
              <a:t>Docker Engine / Docker Compose</a:t>
            </a:r>
            <a:r>
              <a:rPr lang="es-CL" sz="1200">
                <a:solidFill>
                  <a:schemeClr val="dk1"/>
                </a:solidFill>
                <a:latin typeface="Calibri"/>
                <a:ea typeface="Calibri"/>
                <a:cs typeface="Calibri"/>
                <a:sym typeface="Calibri"/>
              </a:rPr>
              <a:t> como interfaz de orquestación entre contenedores.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s-CL" sz="1200">
                <a:solidFill>
                  <a:schemeClr val="dk1"/>
                </a:solidFill>
                <a:latin typeface="Calibri"/>
                <a:ea typeface="Calibri"/>
                <a:cs typeface="Calibri"/>
                <a:sym typeface="Calibri"/>
              </a:rPr>
              <a:t>Face-api.js</a:t>
            </a:r>
            <a:r>
              <a:rPr lang="es-CL" sz="1200">
                <a:solidFill>
                  <a:schemeClr val="dk1"/>
                </a:solidFill>
                <a:latin typeface="Calibri"/>
                <a:ea typeface="Calibri"/>
                <a:cs typeface="Calibri"/>
                <a:sym typeface="Calibri"/>
              </a:rPr>
              <a:t> como librería de interfaz para extracción de descriptores faciales en el navegador.</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s-CL" sz="1200">
                <a:solidFill>
                  <a:schemeClr val="dk1"/>
                </a:solidFill>
                <a:latin typeface="Calibri"/>
                <a:ea typeface="Calibri"/>
                <a:cs typeface="Calibri"/>
                <a:sym typeface="Calibri"/>
              </a:rPr>
              <a:t>Sistema operativo del servidor</a:t>
            </a:r>
            <a:r>
              <a:rPr lang="es-CL" sz="1200">
                <a:solidFill>
                  <a:schemeClr val="dk1"/>
                </a:solidFill>
                <a:latin typeface="Calibri"/>
                <a:ea typeface="Calibri"/>
                <a:cs typeface="Calibri"/>
                <a:sym typeface="Calibri"/>
              </a:rPr>
              <a:t> (Sistema de preferencia del usuario final, contenedores Docker) como interfaz de ejecución del backend.</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s-CL" sz="1200">
                <a:solidFill>
                  <a:schemeClr val="dk1"/>
                </a:solidFill>
                <a:latin typeface="Calibri"/>
                <a:ea typeface="Calibri"/>
                <a:cs typeface="Calibri"/>
                <a:sym typeface="Calibri"/>
              </a:rPr>
              <a:t>Electron</a:t>
            </a:r>
            <a:r>
              <a:rPr lang="es-CL" sz="1200">
                <a:solidFill>
                  <a:schemeClr val="dk1"/>
                </a:solidFill>
                <a:latin typeface="Calibri"/>
                <a:ea typeface="Calibri"/>
                <a:cs typeface="Calibri"/>
                <a:sym typeface="Calibri"/>
              </a:rPr>
              <a:t> como interfaz que empaqueta el frontend web como aplicación nativa de escritorio.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nvSpPr>
        <p:spPr>
          <a:xfrm>
            <a:off x="609558" y="699121"/>
            <a:ext cx="10515600" cy="105348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lang="es-CL" sz="4400">
                <a:solidFill>
                  <a:schemeClr val="dk1"/>
                </a:solidFill>
                <a:latin typeface="Calibri"/>
                <a:ea typeface="Calibri"/>
                <a:cs typeface="Calibri"/>
                <a:sym typeface="Calibri"/>
              </a:rPr>
              <a:t>Conclusión  </a:t>
            </a:r>
            <a:endParaRPr/>
          </a:p>
        </p:txBody>
      </p:sp>
      <p:sp>
        <p:nvSpPr>
          <p:cNvPr id="184" name="Google Shape;184;p13"/>
          <p:cNvSpPr/>
          <p:nvPr/>
        </p:nvSpPr>
        <p:spPr>
          <a:xfrm>
            <a:off x="839487" y="1923143"/>
            <a:ext cx="10365542" cy="4332514"/>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s-CL" sz="1600">
                <a:solidFill>
                  <a:schemeClr val="dk1"/>
                </a:solidFill>
                <a:latin typeface="Calibri"/>
                <a:ea typeface="Calibri"/>
                <a:cs typeface="Calibri"/>
                <a:sym typeface="Calibri"/>
              </a:rPr>
              <a:t>Proyecto APT logra  automatiza el pase de lista mediante reconocimiento facial biométrico, eliminando la dependencia del registro manual, reduciendo el riesgo de suplantación de identidad y devolviendo a los profesores el tiempo diario que hoy destinan a pasar lista.</a:t>
            </a:r>
            <a:endParaRPr sz="16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s-CL" sz="1600">
                <a:solidFill>
                  <a:schemeClr val="dk1"/>
                </a:solidFill>
                <a:latin typeface="Calibri"/>
                <a:ea typeface="Calibri"/>
                <a:cs typeface="Calibri"/>
                <a:sym typeface="Calibri"/>
              </a:rPr>
              <a:t>El proyecto integra en una sola plataforma la gestión académica, la asistencia y los reportes escolares, aplicando competencias de desarrollo de software, bases de datos, arquitectura de microservicios, seguridad informática e inteligencia artificial.</a:t>
            </a:r>
            <a:endParaRPr sz="1600">
              <a:solidFill>
                <a:schemeClr val="dk1"/>
              </a:solidFill>
              <a:latin typeface="Calibri"/>
              <a:ea typeface="Calibri"/>
              <a:cs typeface="Calibri"/>
              <a:sym typeface="Calibri"/>
            </a:endParaRPr>
          </a:p>
          <a:p>
            <a:pPr indent="0" lvl="0" marL="0" rtl="0" algn="l">
              <a:spcBef>
                <a:spcPts val="800"/>
              </a:spcBef>
              <a:spcAft>
                <a:spcPts val="800"/>
              </a:spcAft>
              <a:buClr>
                <a:schemeClr val="dk1"/>
              </a:buClr>
              <a:buFont typeface="Arial"/>
              <a:buNone/>
            </a:pPr>
            <a:r>
              <a:rPr lang="es-CL" sz="1600">
                <a:solidFill>
                  <a:schemeClr val="dk1"/>
                </a:solidFill>
                <a:latin typeface="Calibri"/>
                <a:ea typeface="Calibri"/>
                <a:cs typeface="Calibri"/>
                <a:sym typeface="Calibri"/>
              </a:rPr>
              <a:t>Su factibilidad se sustenta en tecnologías gratuitas y de código abierto, en la experiencia previa del equipo con el stack utilizado, y en un cronograma de 18 semanas que cubre diseño, desarrollo, pruebas e implementación.</a:t>
            </a:r>
            <a:endParaRPr sz="16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2015-07-01T15:45:01Z</dcterms:created>
  <dc:creator>Sala_</dc:creator>
</cp:coreProperties>
</file>